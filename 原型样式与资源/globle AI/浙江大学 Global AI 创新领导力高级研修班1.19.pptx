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7" r:id="rId14"/>
  </p:sldIdLst>
  <p:sldSz cx="12192000" cy="6858000"/>
  <p:notesSz cx="6858000" cy="12192000"/>
  <p:embeddedFontLst>
    <p:embeddedFont>
      <p:font typeface="Alimama ShuHeiTi" pitchFamily="34" charset="-122"/>
      <p:bold r:id="rId18"/>
    </p:embeddedFont>
    <p:embeddedFont>
      <p:font typeface="Alimama ShuHeiTi" pitchFamily="34" charset="-120"/>
      <p:bold r:id="rId19"/>
    </p:embeddedFont>
    <p:embeddedFont>
      <p:font typeface="MiSans" pitchFamily="34" charset="-122"/>
      <p:regular r:id="rId20"/>
    </p:embeddedFont>
    <p:embeddedFont>
      <p:font typeface="MiSans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  <p:embeddedFont>
      <p:font typeface="等线" panose="02010600030101010101" charset="-122"/>
      <p:regular r:id="rId26"/>
    </p:embeddedFont>
  </p:embeddedFontLst>
  <p:custDataLst>
    <p:tags r:id="rId2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chaopx.com/c90abffbdc6dc7b19f522c64f7ce47d0a495d775"/>
          <p:cNvPicPr>
            <a:picLocks noChangeAspect="1"/>
          </p:cNvPicPr>
          <p:nvPr/>
        </p:nvPicPr>
        <p:blipFill>
          <a:blip r:embed="rId1">
            <a:alphaModFix amt="40000"/>
          </a:blip>
          <a:srcRect t="31250" b="3125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A78">
                  <a:alpha val="85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90525" y="671413"/>
            <a:ext cx="3295650" cy="438150"/>
          </a:xfrm>
          <a:custGeom>
            <a:avLst/>
            <a:gdLst/>
            <a:ahLst/>
            <a:cxnLst/>
            <a:rect l="l" t="t" r="r" b="b"/>
            <a:pathLst>
              <a:path w="3295650" h="438150">
                <a:moveTo>
                  <a:pt x="0" y="0"/>
                </a:moveTo>
                <a:lnTo>
                  <a:pt x="3295650" y="0"/>
                </a:lnTo>
                <a:lnTo>
                  <a:pt x="32956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B89A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650" y="801588"/>
            <a:ext cx="290889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405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ZHEJIANG UNIVERSITY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23888"/>
            <a:ext cx="6181725" cy="2266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浙江大学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Global AI创新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领导力高级研修班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91769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Text 5"/>
          <p:cNvSpPr/>
          <p:nvPr/>
        </p:nvSpPr>
        <p:spPr>
          <a:xfrm>
            <a:off x="381000" y="4353719"/>
            <a:ext cx="5981700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面向AI时代的企业家领导力升级体系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2752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0" name="Shape 7"/>
          <p:cNvSpPr/>
          <p:nvPr/>
        </p:nvSpPr>
        <p:spPr>
          <a:xfrm>
            <a:off x="526256" y="54086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8"/>
          <p:cNvSpPr/>
          <p:nvPr/>
        </p:nvSpPr>
        <p:spPr>
          <a:xfrm>
            <a:off x="952500" y="5370513"/>
            <a:ext cx="819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1.5年学制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8958" y="5313363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13" name="Shape 10"/>
          <p:cNvSpPr/>
          <p:nvPr/>
        </p:nvSpPr>
        <p:spPr>
          <a:xfrm>
            <a:off x="2605683" y="52752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4" name="Shape 11"/>
          <p:cNvSpPr/>
          <p:nvPr/>
        </p:nvSpPr>
        <p:spPr>
          <a:xfrm>
            <a:off x="2750939" y="54086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1492" y="-9637"/>
                </a:moveTo>
                <a:cubicBezTo>
                  <a:pt x="86506" y="-12688"/>
                  <a:pt x="80218" y="-12688"/>
                  <a:pt x="75233" y="-9637"/>
                </a:cubicBezTo>
                <a:cubicBezTo>
                  <a:pt x="66154" y="-4093"/>
                  <a:pt x="60536" y="-2604"/>
                  <a:pt x="49895" y="-2828"/>
                </a:cubicBezTo>
                <a:cubicBezTo>
                  <a:pt x="44053" y="-2977"/>
                  <a:pt x="38621" y="186"/>
                  <a:pt x="35793" y="5321"/>
                </a:cubicBezTo>
                <a:cubicBezTo>
                  <a:pt x="30696" y="14660"/>
                  <a:pt x="26566" y="18790"/>
                  <a:pt x="17227" y="23887"/>
                </a:cubicBezTo>
                <a:cubicBezTo>
                  <a:pt x="12092" y="26677"/>
                  <a:pt x="8967" y="32147"/>
                  <a:pt x="9079" y="37988"/>
                </a:cubicBezTo>
                <a:cubicBezTo>
                  <a:pt x="9339" y="48630"/>
                  <a:pt x="7813" y="54248"/>
                  <a:pt x="2270" y="63326"/>
                </a:cubicBezTo>
                <a:cubicBezTo>
                  <a:pt x="-781" y="68312"/>
                  <a:pt x="-781" y="74600"/>
                  <a:pt x="2270" y="79586"/>
                </a:cubicBezTo>
                <a:cubicBezTo>
                  <a:pt x="7813" y="88664"/>
                  <a:pt x="9302" y="94283"/>
                  <a:pt x="9079" y="104924"/>
                </a:cubicBezTo>
                <a:cubicBezTo>
                  <a:pt x="8930" y="110765"/>
                  <a:pt x="12092" y="116198"/>
                  <a:pt x="17227" y="119025"/>
                </a:cubicBezTo>
                <a:cubicBezTo>
                  <a:pt x="25450" y="123527"/>
                  <a:pt x="29617" y="127248"/>
                  <a:pt x="34007" y="134466"/>
                </a:cubicBezTo>
                <a:lnTo>
                  <a:pt x="15887" y="170594"/>
                </a:lnTo>
                <a:cubicBezTo>
                  <a:pt x="13692" y="175022"/>
                  <a:pt x="15478" y="180380"/>
                  <a:pt x="19869" y="182575"/>
                </a:cubicBezTo>
                <a:lnTo>
                  <a:pt x="51867" y="198574"/>
                </a:lnTo>
                <a:cubicBezTo>
                  <a:pt x="56145" y="200695"/>
                  <a:pt x="61354" y="199095"/>
                  <a:pt x="63661" y="194928"/>
                </a:cubicBezTo>
                <a:lnTo>
                  <a:pt x="83307" y="159544"/>
                </a:lnTo>
                <a:lnTo>
                  <a:pt x="102952" y="194928"/>
                </a:lnTo>
                <a:cubicBezTo>
                  <a:pt x="105259" y="199095"/>
                  <a:pt x="110468" y="200732"/>
                  <a:pt x="114746" y="198574"/>
                </a:cubicBezTo>
                <a:lnTo>
                  <a:pt x="146745" y="182575"/>
                </a:lnTo>
                <a:cubicBezTo>
                  <a:pt x="151172" y="180380"/>
                  <a:pt x="152958" y="175022"/>
                  <a:pt x="150726" y="170594"/>
                </a:cubicBezTo>
                <a:lnTo>
                  <a:pt x="132643" y="134429"/>
                </a:lnTo>
                <a:cubicBezTo>
                  <a:pt x="136996" y="127211"/>
                  <a:pt x="141201" y="123490"/>
                  <a:pt x="149423" y="118988"/>
                </a:cubicBezTo>
                <a:cubicBezTo>
                  <a:pt x="154558" y="116198"/>
                  <a:pt x="157683" y="110728"/>
                  <a:pt x="157572" y="104887"/>
                </a:cubicBezTo>
                <a:cubicBezTo>
                  <a:pt x="157311" y="94245"/>
                  <a:pt x="158837" y="88627"/>
                  <a:pt x="164381" y="79549"/>
                </a:cubicBezTo>
                <a:cubicBezTo>
                  <a:pt x="167432" y="74563"/>
                  <a:pt x="167432" y="68275"/>
                  <a:pt x="164381" y="63289"/>
                </a:cubicBezTo>
                <a:cubicBezTo>
                  <a:pt x="158837" y="54211"/>
                  <a:pt x="157349" y="48592"/>
                  <a:pt x="157572" y="37951"/>
                </a:cubicBezTo>
                <a:cubicBezTo>
                  <a:pt x="157721" y="32110"/>
                  <a:pt x="154558" y="26677"/>
                  <a:pt x="149423" y="23850"/>
                </a:cubicBezTo>
                <a:cubicBezTo>
                  <a:pt x="140084" y="18752"/>
                  <a:pt x="135954" y="14622"/>
                  <a:pt x="130857" y="5283"/>
                </a:cubicBezTo>
                <a:cubicBezTo>
                  <a:pt x="128067" y="149"/>
                  <a:pt x="122597" y="-2977"/>
                  <a:pt x="116756" y="-2865"/>
                </a:cubicBezTo>
                <a:cubicBezTo>
                  <a:pt x="106114" y="-2604"/>
                  <a:pt x="100496" y="-4130"/>
                  <a:pt x="91418" y="-9674"/>
                </a:cubicBezTo>
                <a:close/>
                <a:moveTo>
                  <a:pt x="83344" y="35719"/>
                </a:moveTo>
                <a:cubicBezTo>
                  <a:pt x="103057" y="35719"/>
                  <a:pt x="119063" y="51724"/>
                  <a:pt x="119063" y="71438"/>
                </a:cubicBezTo>
                <a:cubicBezTo>
                  <a:pt x="119063" y="91151"/>
                  <a:pt x="103057" y="107156"/>
                  <a:pt x="83344" y="107156"/>
                </a:cubicBezTo>
                <a:cubicBezTo>
                  <a:pt x="63630" y="107156"/>
                  <a:pt x="47625" y="91151"/>
                  <a:pt x="47625" y="71438"/>
                </a:cubicBezTo>
                <a:cubicBezTo>
                  <a:pt x="47625" y="51724"/>
                  <a:pt x="63630" y="35719"/>
                  <a:pt x="83344" y="35719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5" name="Text 12"/>
          <p:cNvSpPr/>
          <p:nvPr/>
        </p:nvSpPr>
        <p:spPr>
          <a:xfrm>
            <a:off x="3177183" y="5370513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双证书认证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91633" y="5313363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17" name="Shape 14"/>
          <p:cNvSpPr/>
          <p:nvPr/>
        </p:nvSpPr>
        <p:spPr>
          <a:xfrm>
            <a:off x="4958358" y="52752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8" name="Shape 15"/>
          <p:cNvSpPr/>
          <p:nvPr/>
        </p:nvSpPr>
        <p:spPr>
          <a:xfrm>
            <a:off x="5091708" y="54086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Text 16"/>
          <p:cNvSpPr/>
          <p:nvPr/>
        </p:nvSpPr>
        <p:spPr>
          <a:xfrm>
            <a:off x="5529858" y="5370513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全球资源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1000" y="60166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1" name="Text 18"/>
          <p:cNvSpPr/>
          <p:nvPr/>
        </p:nvSpPr>
        <p:spPr>
          <a:xfrm>
            <a:off x="381000" y="6248400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融合学术底蕴与实战生态 · 培养AI驱动型企业家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20773" y="6248400"/>
            <a:ext cx="466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6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0866" y="801217"/>
            <a:ext cx="5060391" cy="4778678"/>
          </a:xfrm>
          <a:prstGeom prst="rect">
            <a:avLst/>
          </a:prstGeom>
          <a:effectLst>
            <a:glow>
              <a:schemeClr val="bg1">
                <a:alpha val="100000"/>
              </a:schemeClr>
            </a:glow>
          </a:effec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7200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729615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课程理念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AI时代的领导力升级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73355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400050" y="2593181"/>
            <a:ext cx="38100" cy="981075"/>
          </a:xfrm>
          <a:custGeom>
            <a:avLst/>
            <a:gdLst/>
            <a:ahLst/>
            <a:cxnLst/>
            <a:rect l="l" t="t" r="r" b="b"/>
            <a:pathLst>
              <a:path w="38100" h="981075">
                <a:moveTo>
                  <a:pt x="0" y="0"/>
                </a:moveTo>
                <a:lnTo>
                  <a:pt x="38100" y="0"/>
                </a:lnTo>
                <a:lnTo>
                  <a:pt x="381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Shape 4"/>
          <p:cNvSpPr/>
          <p:nvPr/>
        </p:nvSpPr>
        <p:spPr>
          <a:xfrm>
            <a:off x="685800" y="25931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1749" y="11274"/>
                </a:moveTo>
                <a:cubicBezTo>
                  <a:pt x="146279" y="8148"/>
                  <a:pt x="139526" y="8148"/>
                  <a:pt x="134001" y="11274"/>
                </a:cubicBezTo>
                <a:lnTo>
                  <a:pt x="8985" y="82711"/>
                </a:lnTo>
                <a:cubicBezTo>
                  <a:pt x="1953" y="86730"/>
                  <a:pt x="-1507" y="94990"/>
                  <a:pt x="558" y="102803"/>
                </a:cubicBezTo>
                <a:cubicBezTo>
                  <a:pt x="2623" y="110617"/>
                  <a:pt x="9767" y="116086"/>
                  <a:pt x="17859" y="116086"/>
                </a:cubicBezTo>
                <a:lnTo>
                  <a:pt x="35719" y="116086"/>
                </a:lnTo>
                <a:lnTo>
                  <a:pt x="35719" y="232172"/>
                </a:lnTo>
                <a:lnTo>
                  <a:pt x="35719" y="232172"/>
                </a:lnTo>
                <a:lnTo>
                  <a:pt x="7144" y="253603"/>
                </a:lnTo>
                <a:cubicBezTo>
                  <a:pt x="2623" y="256952"/>
                  <a:pt x="0" y="262254"/>
                  <a:pt x="0" y="267891"/>
                </a:cubicBezTo>
                <a:cubicBezTo>
                  <a:pt x="0" y="277769"/>
                  <a:pt x="7981" y="285750"/>
                  <a:pt x="17859" y="285750"/>
                </a:cubicBezTo>
                <a:lnTo>
                  <a:pt x="267891" y="285750"/>
                </a:lnTo>
                <a:cubicBezTo>
                  <a:pt x="277769" y="285750"/>
                  <a:pt x="285750" y="277769"/>
                  <a:pt x="285750" y="267891"/>
                </a:cubicBezTo>
                <a:cubicBezTo>
                  <a:pt x="285750" y="262254"/>
                  <a:pt x="283127" y="256952"/>
                  <a:pt x="278606" y="253603"/>
                </a:cubicBezTo>
                <a:lnTo>
                  <a:pt x="250031" y="232172"/>
                </a:lnTo>
                <a:lnTo>
                  <a:pt x="250031" y="116086"/>
                </a:lnTo>
                <a:lnTo>
                  <a:pt x="267891" y="116086"/>
                </a:lnTo>
                <a:cubicBezTo>
                  <a:pt x="275983" y="116086"/>
                  <a:pt x="283071" y="110617"/>
                  <a:pt x="285136" y="102803"/>
                </a:cubicBezTo>
                <a:cubicBezTo>
                  <a:pt x="287201" y="94990"/>
                  <a:pt x="283741" y="86730"/>
                  <a:pt x="276709" y="82711"/>
                </a:cubicBezTo>
                <a:lnTo>
                  <a:pt x="151693" y="11274"/>
                </a:lnTo>
                <a:close/>
                <a:moveTo>
                  <a:pt x="223242" y="116086"/>
                </a:moveTo>
                <a:lnTo>
                  <a:pt x="223242" y="232172"/>
                </a:lnTo>
                <a:lnTo>
                  <a:pt x="187523" y="232172"/>
                </a:lnTo>
                <a:lnTo>
                  <a:pt x="187523" y="116086"/>
                </a:lnTo>
                <a:lnTo>
                  <a:pt x="223242" y="116086"/>
                </a:lnTo>
                <a:close/>
                <a:moveTo>
                  <a:pt x="160734" y="116086"/>
                </a:moveTo>
                <a:lnTo>
                  <a:pt x="160734" y="232172"/>
                </a:lnTo>
                <a:lnTo>
                  <a:pt x="125016" y="232172"/>
                </a:lnTo>
                <a:lnTo>
                  <a:pt x="125016" y="116086"/>
                </a:lnTo>
                <a:lnTo>
                  <a:pt x="160734" y="116086"/>
                </a:lnTo>
                <a:close/>
                <a:moveTo>
                  <a:pt x="98227" y="116086"/>
                </a:moveTo>
                <a:lnTo>
                  <a:pt x="98227" y="232172"/>
                </a:lnTo>
                <a:lnTo>
                  <a:pt x="62508" y="232172"/>
                </a:lnTo>
                <a:lnTo>
                  <a:pt x="62508" y="116086"/>
                </a:lnTo>
                <a:lnTo>
                  <a:pt x="98227" y="116086"/>
                </a:lnTo>
                <a:close/>
                <a:moveTo>
                  <a:pt x="142875" y="53578"/>
                </a:moveTo>
                <a:cubicBezTo>
                  <a:pt x="152732" y="53578"/>
                  <a:pt x="160734" y="61581"/>
                  <a:pt x="160734" y="71438"/>
                </a:cubicBezTo>
                <a:cubicBezTo>
                  <a:pt x="160734" y="81294"/>
                  <a:pt x="152732" y="89297"/>
                  <a:pt x="142875" y="89297"/>
                </a:cubicBezTo>
                <a:cubicBezTo>
                  <a:pt x="133018" y="89297"/>
                  <a:pt x="125016" y="81294"/>
                  <a:pt x="125016" y="71438"/>
                </a:cubicBezTo>
                <a:cubicBezTo>
                  <a:pt x="125016" y="61581"/>
                  <a:pt x="133018" y="53578"/>
                  <a:pt x="142875" y="5357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Text 5"/>
          <p:cNvSpPr/>
          <p:nvPr/>
        </p:nvSpPr>
        <p:spPr>
          <a:xfrm>
            <a:off x="1157288" y="2593181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学术底蕴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3012281"/>
            <a:ext cx="6943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融合</a:t>
            </a:r>
            <a:r>
              <a:rPr lang="en-US" sz="135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浙江大学百年学术积淀</a:t>
            </a: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与前沿AI研究成果，为课程注入深厚的理论基础和严谨的学术框架，确保教学内容的系统性、科学性与前瞻性。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3798094"/>
            <a:ext cx="38100" cy="981075"/>
          </a:xfrm>
          <a:custGeom>
            <a:avLst/>
            <a:gdLst/>
            <a:ahLst/>
            <a:cxnLst/>
            <a:rect l="l" t="t" r="r" b="b"/>
            <a:pathLst>
              <a:path w="38100" h="981075">
                <a:moveTo>
                  <a:pt x="0" y="0"/>
                </a:moveTo>
                <a:lnTo>
                  <a:pt x="38100" y="0"/>
                </a:lnTo>
                <a:lnTo>
                  <a:pt x="381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0" name="Shape 8"/>
          <p:cNvSpPr/>
          <p:nvPr/>
        </p:nvSpPr>
        <p:spPr>
          <a:xfrm>
            <a:off x="685800" y="37980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1" name="Text 9"/>
          <p:cNvSpPr/>
          <p:nvPr/>
        </p:nvSpPr>
        <p:spPr>
          <a:xfrm>
            <a:off x="1157288" y="3798094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规模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700" y="4217194"/>
            <a:ext cx="6943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30人左右精品班（13.8万/人,</a:t>
            </a: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包含学费、教材费、证书费等全部费用</a:t>
            </a: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0050" y="5003006"/>
            <a:ext cx="38100" cy="981075"/>
          </a:xfrm>
          <a:custGeom>
            <a:avLst/>
            <a:gdLst/>
            <a:ahLst/>
            <a:cxnLst/>
            <a:rect l="l" t="t" r="r" b="b"/>
            <a:pathLst>
              <a:path w="38100" h="981075">
                <a:moveTo>
                  <a:pt x="0" y="0"/>
                </a:moveTo>
                <a:lnTo>
                  <a:pt x="38100" y="0"/>
                </a:lnTo>
                <a:lnTo>
                  <a:pt x="381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Shape 12"/>
          <p:cNvSpPr/>
          <p:nvPr/>
        </p:nvSpPr>
        <p:spPr>
          <a:xfrm>
            <a:off x="685800" y="500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5" name="Text 13"/>
          <p:cNvSpPr/>
          <p:nvPr/>
        </p:nvSpPr>
        <p:spPr>
          <a:xfrm>
            <a:off x="1157288" y="5003006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核心价值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700" y="5422106"/>
            <a:ext cx="6943725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认知 + 战略 + 执行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亮点： 60%理论授课 + 40%实战（案例/工作坊/参访）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7" name="Image 0" descr="https://kimi-web-img.moonshot.cn/img/www.news.zju.edu.cn/a432eaa9e429f2ba03ca03318a0aa85e6c2a4525.jpg"/>
          <p:cNvPicPr>
            <a:picLocks noChangeAspect="1"/>
          </p:cNvPicPr>
          <p:nvPr/>
        </p:nvPicPr>
        <p:blipFill>
          <a:blip r:embed="rId1"/>
          <a:srcRect l="9277" r="9277"/>
          <a:stretch>
            <a:fillRect/>
          </a:stretch>
        </p:blipFill>
        <p:spPr>
          <a:xfrm>
            <a:off x="7810500" y="381000"/>
            <a:ext cx="4000500" cy="3276600"/>
          </a:xfrm>
          <a:prstGeom prst="roundRect">
            <a:avLst>
              <a:gd name="adj" fmla="val 0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7810500" y="2971800"/>
            <a:ext cx="4000500" cy="685800"/>
          </a:xfrm>
          <a:custGeom>
            <a:avLst/>
            <a:gdLst/>
            <a:ahLst/>
            <a:cxnLst/>
            <a:rect l="l" t="t" r="r" b="b"/>
            <a:pathLst>
              <a:path w="4000500" h="685800">
                <a:moveTo>
                  <a:pt x="0" y="0"/>
                </a:moveTo>
                <a:lnTo>
                  <a:pt x="4000500" y="0"/>
                </a:lnTo>
                <a:lnTo>
                  <a:pt x="40005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</p:spPr>
      </p:sp>
      <p:sp>
        <p:nvSpPr>
          <p:cNvPr id="19" name="Text 16"/>
          <p:cNvSpPr/>
          <p:nvPr/>
        </p:nvSpPr>
        <p:spPr>
          <a:xfrm>
            <a:off x="8039100" y="320040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浙江大学求是园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29550" y="3848100"/>
            <a:ext cx="3981450" cy="2628900"/>
          </a:xfrm>
          <a:custGeom>
            <a:avLst/>
            <a:gdLst/>
            <a:ahLst/>
            <a:cxnLst/>
            <a:rect l="l" t="t" r="r" b="b"/>
            <a:pathLst>
              <a:path w="3981450" h="2628900">
                <a:moveTo>
                  <a:pt x="0" y="0"/>
                </a:moveTo>
                <a:lnTo>
                  <a:pt x="3981450" y="0"/>
                </a:lnTo>
                <a:lnTo>
                  <a:pt x="398145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1" name="Shape 18"/>
          <p:cNvSpPr/>
          <p:nvPr/>
        </p:nvSpPr>
        <p:spPr>
          <a:xfrm>
            <a:off x="7829550" y="38481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0" y="2628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2" name="Text 19"/>
          <p:cNvSpPr/>
          <p:nvPr/>
        </p:nvSpPr>
        <p:spPr>
          <a:xfrm>
            <a:off x="8153400" y="41529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53400" y="47339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4" name="Text 21"/>
          <p:cNvSpPr/>
          <p:nvPr/>
        </p:nvSpPr>
        <p:spPr>
          <a:xfrm>
            <a:off x="8362950" y="4648200"/>
            <a:ext cx="2657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实现从数字化到智能化的认知升级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53400" y="51530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Text 23"/>
          <p:cNvSpPr/>
          <p:nvPr/>
        </p:nvSpPr>
        <p:spPr>
          <a:xfrm>
            <a:off x="8362950" y="5067300"/>
            <a:ext cx="2466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掌握AI时代的企业战略制定方法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53400" y="557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8" name="Text 25"/>
          <p:cNvSpPr/>
          <p:nvPr/>
        </p:nvSpPr>
        <p:spPr>
          <a:xfrm>
            <a:off x="8362950" y="5486400"/>
            <a:ext cx="1952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构建可落地的AI执行体系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53400" y="59912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0" name="Text 27"/>
          <p:cNvSpPr/>
          <p:nvPr/>
        </p:nvSpPr>
        <p:spPr>
          <a:xfrm>
            <a:off x="8362950" y="5905500"/>
            <a:ext cx="2295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成为AI时代的先行者和领导者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课程导览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400050" y="1771650"/>
            <a:ext cx="5600700" cy="1514475"/>
          </a:xfrm>
          <a:custGeom>
            <a:avLst/>
            <a:gdLst/>
            <a:ahLst/>
            <a:cxnLst/>
            <a:rect l="l" t="t" r="r" b="b"/>
            <a:pathLst>
              <a:path w="5600700" h="1514475">
                <a:moveTo>
                  <a:pt x="0" y="0"/>
                </a:moveTo>
                <a:lnTo>
                  <a:pt x="5600700" y="0"/>
                </a:lnTo>
                <a:lnTo>
                  <a:pt x="56007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6" name="Shape 4"/>
          <p:cNvSpPr/>
          <p:nvPr/>
        </p:nvSpPr>
        <p:spPr>
          <a:xfrm>
            <a:off x="400050" y="177165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Shape 5"/>
          <p:cNvSpPr/>
          <p:nvPr/>
        </p:nvSpPr>
        <p:spPr>
          <a:xfrm>
            <a:off x="685800" y="21478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Text 6"/>
          <p:cNvSpPr/>
          <p:nvPr/>
        </p:nvSpPr>
        <p:spPr>
          <a:xfrm>
            <a:off x="600075" y="2147888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38300" y="2071688"/>
            <a:ext cx="421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38300" y="2490788"/>
            <a:ext cx="4171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融合浙江大学学术底蕴与Global AI创新加速器平台实战生态，打造面向AI时代的企业家领导力升级体系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0" y="1771650"/>
            <a:ext cx="5600700" cy="1514475"/>
          </a:xfrm>
          <a:custGeom>
            <a:avLst/>
            <a:gdLst/>
            <a:ahLst/>
            <a:cxnLst/>
            <a:rect l="l" t="t" r="r" b="b"/>
            <a:pathLst>
              <a:path w="5600700" h="1514475">
                <a:moveTo>
                  <a:pt x="0" y="0"/>
                </a:moveTo>
                <a:lnTo>
                  <a:pt x="5600700" y="0"/>
                </a:lnTo>
                <a:lnTo>
                  <a:pt x="56007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2" name="Shape 10"/>
          <p:cNvSpPr/>
          <p:nvPr/>
        </p:nvSpPr>
        <p:spPr>
          <a:xfrm>
            <a:off x="6210300" y="177165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3" name="Shape 11"/>
          <p:cNvSpPr/>
          <p:nvPr/>
        </p:nvSpPr>
        <p:spPr>
          <a:xfrm>
            <a:off x="6496050" y="21478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4" name="Text 12"/>
          <p:cNvSpPr/>
          <p:nvPr/>
        </p:nvSpPr>
        <p:spPr>
          <a:xfrm>
            <a:off x="6410325" y="2147888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76625"/>
            <a:ext cx="5600700" cy="1514475"/>
          </a:xfrm>
          <a:custGeom>
            <a:avLst/>
            <a:gdLst/>
            <a:ahLst/>
            <a:cxnLst/>
            <a:rect l="l" t="t" r="r" b="b"/>
            <a:pathLst>
              <a:path w="5600700" h="1514475">
                <a:moveTo>
                  <a:pt x="0" y="0"/>
                </a:moveTo>
                <a:lnTo>
                  <a:pt x="5600700" y="0"/>
                </a:lnTo>
                <a:lnTo>
                  <a:pt x="56007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8" name="Shape 16"/>
          <p:cNvSpPr/>
          <p:nvPr/>
        </p:nvSpPr>
        <p:spPr>
          <a:xfrm>
            <a:off x="400050" y="3476625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Shape 17"/>
          <p:cNvSpPr/>
          <p:nvPr/>
        </p:nvSpPr>
        <p:spPr>
          <a:xfrm>
            <a:off x="685800" y="3852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0" name="Text 18"/>
          <p:cNvSpPr/>
          <p:nvPr/>
        </p:nvSpPr>
        <p:spPr>
          <a:xfrm>
            <a:off x="600075" y="3852863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33525" y="3667442"/>
            <a:ext cx="421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 教学形式落地细化（需具体描述</a:t>
            </a:r>
            <a:r>
              <a:rPr lang="zh-CN" alt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）</a:t>
            </a:r>
            <a:endParaRPr lang="zh-CN" alt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38300" y="4010660"/>
            <a:ext cx="4171950" cy="912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案例研讨（Case Study）： 请简述具体操作形式，如何让学员产生深度碰撞？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工作坊（Workshop）： 请描述工作坊的流程或主题，如何把理论变成实操？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0300" y="3476625"/>
            <a:ext cx="5600700" cy="1514475"/>
          </a:xfrm>
          <a:custGeom>
            <a:avLst/>
            <a:gdLst/>
            <a:ahLst/>
            <a:cxnLst/>
            <a:rect l="l" t="t" r="r" b="b"/>
            <a:pathLst>
              <a:path w="5600700" h="1514475">
                <a:moveTo>
                  <a:pt x="0" y="0"/>
                </a:moveTo>
                <a:lnTo>
                  <a:pt x="5600700" y="0"/>
                </a:lnTo>
                <a:lnTo>
                  <a:pt x="56007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4" name="Shape 22"/>
          <p:cNvSpPr/>
          <p:nvPr/>
        </p:nvSpPr>
        <p:spPr>
          <a:xfrm>
            <a:off x="6210300" y="3476625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5" name="Shape 23"/>
          <p:cNvSpPr/>
          <p:nvPr/>
        </p:nvSpPr>
        <p:spPr>
          <a:xfrm>
            <a:off x="6496050" y="3852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Text 24"/>
          <p:cNvSpPr/>
          <p:nvPr/>
        </p:nvSpPr>
        <p:spPr>
          <a:xfrm>
            <a:off x="6410325" y="3852863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43775" y="3589337"/>
            <a:ext cx="421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 企业参访规划（标杆学习）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48550" y="4195763"/>
            <a:ext cx="4171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国内参访（必修）： 请推荐 1-2 家国内能落地的 AI/创新标杆企业。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海外游学（选修）： 请帮忙提炼海外游学（如CES展会）的核心价值点。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00050" y="51816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11410950" h="1295400">
                <a:moveTo>
                  <a:pt x="0" y="0"/>
                </a:moveTo>
                <a:lnTo>
                  <a:pt x="11410950" y="0"/>
                </a:lnTo>
                <a:lnTo>
                  <a:pt x="114109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0" name="Shape 28"/>
          <p:cNvSpPr/>
          <p:nvPr/>
        </p:nvSpPr>
        <p:spPr>
          <a:xfrm>
            <a:off x="400050" y="5181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1" name="Shape 29"/>
          <p:cNvSpPr/>
          <p:nvPr/>
        </p:nvSpPr>
        <p:spPr>
          <a:xfrm>
            <a:off x="685800" y="54483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2" name="Text 30"/>
          <p:cNvSpPr/>
          <p:nvPr/>
        </p:nvSpPr>
        <p:spPr>
          <a:xfrm>
            <a:off x="600075" y="5448300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48550" y="1995805"/>
            <a:ext cx="2749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导师制设想（可选）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448550" y="2355215"/>
            <a:ext cx="3951605" cy="666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如有合适人选，请推荐能做“企业顾问”的导师（如擅长AI营销、组织架构的技术专家），以便后续开展小组制辅导。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6248400" y="5182235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11410950" h="1295400">
                <a:moveTo>
                  <a:pt x="0" y="0"/>
                </a:moveTo>
                <a:lnTo>
                  <a:pt x="11410950" y="0"/>
                </a:lnTo>
                <a:lnTo>
                  <a:pt x="114109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43" name="Text 13"/>
          <p:cNvSpPr/>
          <p:nvPr/>
        </p:nvSpPr>
        <p:spPr>
          <a:xfrm>
            <a:off x="1629410" y="5277803"/>
            <a:ext cx="421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  <a:sym typeface="+mn-ea"/>
              </a:rPr>
              <a:t>投资回报预期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1638300" y="5695950"/>
            <a:ext cx="4105275" cy="46355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一次投资，终身受益 · 避免AI转型误区 · 把握时代机遇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6416040" y="540734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5" name="Shape 22"/>
          <p:cNvSpPr/>
          <p:nvPr/>
        </p:nvSpPr>
        <p:spPr>
          <a:xfrm>
            <a:off x="6213475" y="5073015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2" name="Text 30"/>
          <p:cNvSpPr/>
          <p:nvPr/>
        </p:nvSpPr>
        <p:spPr>
          <a:xfrm>
            <a:off x="6353175" y="5421630"/>
            <a:ext cx="93345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13"/>
          <p:cNvSpPr/>
          <p:nvPr/>
        </p:nvSpPr>
        <p:spPr>
          <a:xfrm>
            <a:off x="7448550" y="5294948"/>
            <a:ext cx="4210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证书授予</a:t>
            </a:r>
            <a:endParaRPr lang="en-US" sz="180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7448550" y="5601335"/>
            <a:ext cx="4105275" cy="82867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课完成所有课程并通过考核的学员 ，将获得浙江大学颁发的相关证书 ，以及浙大Global AI创新加速器颁发的"Global AI企业领导力 "结业证书。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课程结构与师资构成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381000" y="1562100"/>
            <a:ext cx="3657600" cy="3600450"/>
          </a:xfrm>
          <a:custGeom>
            <a:avLst/>
            <a:gdLst/>
            <a:ahLst/>
            <a:cxnLst/>
            <a:rect l="l" t="t" r="r" b="b"/>
            <a:pathLst>
              <a:path w="3657600" h="3600450">
                <a:moveTo>
                  <a:pt x="0" y="0"/>
                </a:moveTo>
                <a:lnTo>
                  <a:pt x="3657600" y="0"/>
                </a:lnTo>
                <a:lnTo>
                  <a:pt x="3657600" y="3600450"/>
                </a:lnTo>
                <a:lnTo>
                  <a:pt x="0" y="36004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6" name="Shape 4"/>
          <p:cNvSpPr/>
          <p:nvPr/>
        </p:nvSpPr>
        <p:spPr>
          <a:xfrm>
            <a:off x="381000" y="15621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Shape 5"/>
          <p:cNvSpPr/>
          <p:nvPr/>
        </p:nvSpPr>
        <p:spPr>
          <a:xfrm>
            <a:off x="609600" y="1809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Shape 6"/>
          <p:cNvSpPr/>
          <p:nvPr/>
        </p:nvSpPr>
        <p:spPr>
          <a:xfrm>
            <a:off x="791766" y="19716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35719" y="133945"/>
                </a:moveTo>
                <a:lnTo>
                  <a:pt x="35719" y="151805"/>
                </a:lnTo>
                <a:cubicBezTo>
                  <a:pt x="35719" y="156716"/>
                  <a:pt x="39737" y="160734"/>
                  <a:pt x="44648" y="160734"/>
                </a:cubicBezTo>
                <a:lnTo>
                  <a:pt x="62508" y="160734"/>
                </a:lnTo>
                <a:cubicBezTo>
                  <a:pt x="67419" y="160734"/>
                  <a:pt x="71438" y="156716"/>
                  <a:pt x="71438" y="151805"/>
                </a:cubicBezTo>
                <a:lnTo>
                  <a:pt x="71438" y="133945"/>
                </a:lnTo>
                <a:cubicBezTo>
                  <a:pt x="71438" y="129034"/>
                  <a:pt x="67419" y="125016"/>
                  <a:pt x="62508" y="125016"/>
                </a:cubicBezTo>
                <a:lnTo>
                  <a:pt x="44648" y="125016"/>
                </a:lnTo>
                <a:cubicBezTo>
                  <a:pt x="39737" y="125016"/>
                  <a:pt x="35719" y="129034"/>
                  <a:pt x="35719" y="133945"/>
                </a:cubicBezTo>
                <a:close/>
                <a:moveTo>
                  <a:pt x="107156" y="133945"/>
                </a:moveTo>
                <a:lnTo>
                  <a:pt x="107156" y="151805"/>
                </a:lnTo>
                <a:cubicBezTo>
                  <a:pt x="107156" y="156716"/>
                  <a:pt x="111175" y="160734"/>
                  <a:pt x="116086" y="160734"/>
                </a:cubicBezTo>
                <a:lnTo>
                  <a:pt x="133945" y="160734"/>
                </a:lnTo>
                <a:cubicBezTo>
                  <a:pt x="138857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38857" y="125016"/>
                  <a:pt x="133945" y="125016"/>
                </a:cubicBezTo>
                <a:lnTo>
                  <a:pt x="116086" y="125016"/>
                </a:lnTo>
                <a:cubicBezTo>
                  <a:pt x="111175" y="125016"/>
                  <a:pt x="107156" y="129034"/>
                  <a:pt x="107156" y="133945"/>
                </a:cubicBezTo>
                <a:close/>
                <a:moveTo>
                  <a:pt x="187523" y="125016"/>
                </a:moveTo>
                <a:cubicBezTo>
                  <a:pt x="182612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82612" y="160734"/>
                  <a:pt x="187523" y="160734"/>
                </a:cubicBezTo>
                <a:lnTo>
                  <a:pt x="205383" y="160734"/>
                </a:lnTo>
                <a:cubicBezTo>
                  <a:pt x="210294" y="160734"/>
                  <a:pt x="214313" y="156716"/>
                  <a:pt x="214313" y="151805"/>
                </a:cubicBezTo>
                <a:lnTo>
                  <a:pt x="214313" y="133945"/>
                </a:lnTo>
                <a:cubicBezTo>
                  <a:pt x="214313" y="129034"/>
                  <a:pt x="210294" y="125016"/>
                  <a:pt x="205383" y="125016"/>
                </a:cubicBezTo>
                <a:lnTo>
                  <a:pt x="187523" y="125016"/>
                </a:lnTo>
                <a:close/>
                <a:moveTo>
                  <a:pt x="35719" y="205383"/>
                </a:move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62508" y="232172"/>
                </a:lnTo>
                <a:cubicBezTo>
                  <a:pt x="67419" y="232172"/>
                  <a:pt x="71438" y="228154"/>
                  <a:pt x="71438" y="223242"/>
                </a:cubicBezTo>
                <a:lnTo>
                  <a:pt x="71438" y="205383"/>
                </a:lnTo>
                <a:cubicBezTo>
                  <a:pt x="71438" y="200471"/>
                  <a:pt x="67419" y="196453"/>
                  <a:pt x="62508" y="196453"/>
                </a:cubicBezTo>
                <a:lnTo>
                  <a:pt x="44648" y="196453"/>
                </a:lnTo>
                <a:cubicBezTo>
                  <a:pt x="39737" y="196453"/>
                  <a:pt x="35719" y="200471"/>
                  <a:pt x="35719" y="205383"/>
                </a:cubicBezTo>
                <a:close/>
                <a:moveTo>
                  <a:pt x="116086" y="196453"/>
                </a:moveTo>
                <a:cubicBezTo>
                  <a:pt x="111175" y="196453"/>
                  <a:pt x="107156" y="200471"/>
                  <a:pt x="107156" y="205383"/>
                </a:cubicBezTo>
                <a:lnTo>
                  <a:pt x="107156" y="223242"/>
                </a:lnTo>
                <a:cubicBezTo>
                  <a:pt x="107156" y="228154"/>
                  <a:pt x="111175" y="232172"/>
                  <a:pt x="116086" y="232172"/>
                </a:cubicBezTo>
                <a:lnTo>
                  <a:pt x="133945" y="232172"/>
                </a:lnTo>
                <a:cubicBezTo>
                  <a:pt x="138857" y="232172"/>
                  <a:pt x="142875" y="228154"/>
                  <a:pt x="142875" y="223242"/>
                </a:cubicBezTo>
                <a:lnTo>
                  <a:pt x="142875" y="205383"/>
                </a:lnTo>
                <a:cubicBezTo>
                  <a:pt x="142875" y="200471"/>
                  <a:pt x="138857" y="196453"/>
                  <a:pt x="133945" y="196453"/>
                </a:cubicBezTo>
                <a:lnTo>
                  <a:pt x="116086" y="196453"/>
                </a:lnTo>
                <a:close/>
                <a:moveTo>
                  <a:pt x="178594" y="205383"/>
                </a:moveTo>
                <a:lnTo>
                  <a:pt x="178594" y="223242"/>
                </a:lnTo>
                <a:cubicBezTo>
                  <a:pt x="178594" y="228154"/>
                  <a:pt x="182612" y="232172"/>
                  <a:pt x="187523" y="232172"/>
                </a:cubicBezTo>
                <a:lnTo>
                  <a:pt x="205383" y="232172"/>
                </a:lnTo>
                <a:cubicBezTo>
                  <a:pt x="210294" y="232172"/>
                  <a:pt x="214313" y="228154"/>
                  <a:pt x="214313" y="223242"/>
                </a:cubicBezTo>
                <a:lnTo>
                  <a:pt x="214313" y="205383"/>
                </a:lnTo>
                <a:cubicBezTo>
                  <a:pt x="214313" y="200471"/>
                  <a:pt x="210294" y="196453"/>
                  <a:pt x="205383" y="196453"/>
                </a:cubicBezTo>
                <a:lnTo>
                  <a:pt x="187523" y="196453"/>
                </a:lnTo>
                <a:cubicBezTo>
                  <a:pt x="182612" y="196453"/>
                  <a:pt x="178594" y="200471"/>
                  <a:pt x="178594" y="205383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9" name="Text 7"/>
          <p:cNvSpPr/>
          <p:nvPr/>
        </p:nvSpPr>
        <p:spPr>
          <a:xfrm>
            <a:off x="1371600" y="19621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课程时长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714625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5767" y="2898777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年制学习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5630" y="3270250"/>
            <a:ext cx="328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每月集中授课</a:t>
            </a:r>
            <a:r>
              <a:rPr lang="en-US" sz="135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2天</a:t>
            </a: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，兼顾学习与事业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5630" y="3676650"/>
            <a:ext cx="3286125" cy="1226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授课模式：理论授课+案例研讨+实战工作坊+企业参访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师资构成：浙江大学教授+Global AI专家团队+行业领袖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7200" y="1562100"/>
            <a:ext cx="3657600" cy="3600450"/>
          </a:xfrm>
          <a:custGeom>
            <a:avLst/>
            <a:gdLst/>
            <a:ahLst/>
            <a:cxnLst/>
            <a:rect l="l" t="t" r="r" b="b"/>
            <a:pathLst>
              <a:path w="3657600" h="3600450">
                <a:moveTo>
                  <a:pt x="0" y="0"/>
                </a:moveTo>
                <a:lnTo>
                  <a:pt x="3657600" y="0"/>
                </a:lnTo>
                <a:lnTo>
                  <a:pt x="3657600" y="3600450"/>
                </a:lnTo>
                <a:lnTo>
                  <a:pt x="0" y="36004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5" name="Shape 13"/>
          <p:cNvSpPr/>
          <p:nvPr/>
        </p:nvSpPr>
        <p:spPr>
          <a:xfrm>
            <a:off x="4267200" y="15621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6" name="Shape 14"/>
          <p:cNvSpPr/>
          <p:nvPr/>
        </p:nvSpPr>
        <p:spPr>
          <a:xfrm>
            <a:off x="4495800" y="1809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7" name="Shape 15"/>
          <p:cNvSpPr/>
          <p:nvPr/>
        </p:nvSpPr>
        <p:spPr>
          <a:xfrm>
            <a:off x="4624388" y="19716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71438" y="53578"/>
                </a:moveTo>
                <a:cubicBezTo>
                  <a:pt x="71438" y="33877"/>
                  <a:pt x="87455" y="17859"/>
                  <a:pt x="107156" y="17859"/>
                </a:cubicBezTo>
                <a:lnTo>
                  <a:pt x="303609" y="17859"/>
                </a:lnTo>
                <a:cubicBezTo>
                  <a:pt x="323310" y="17859"/>
                  <a:pt x="339328" y="33877"/>
                  <a:pt x="339328" y="53578"/>
                </a:cubicBezTo>
                <a:lnTo>
                  <a:pt x="339328" y="187523"/>
                </a:lnTo>
                <a:lnTo>
                  <a:pt x="285750" y="187523"/>
                </a:lnTo>
                <a:lnTo>
                  <a:pt x="285750" y="178594"/>
                </a:lnTo>
                <a:cubicBezTo>
                  <a:pt x="285750" y="168715"/>
                  <a:pt x="277769" y="160734"/>
                  <a:pt x="267891" y="160734"/>
                </a:cubicBezTo>
                <a:lnTo>
                  <a:pt x="232172" y="160734"/>
                </a:lnTo>
                <a:cubicBezTo>
                  <a:pt x="222293" y="160734"/>
                  <a:pt x="214313" y="168715"/>
                  <a:pt x="214313" y="178594"/>
                </a:cubicBezTo>
                <a:lnTo>
                  <a:pt x="214313" y="187523"/>
                </a:lnTo>
                <a:lnTo>
                  <a:pt x="142261" y="187523"/>
                </a:lnTo>
                <a:cubicBezTo>
                  <a:pt x="148344" y="177031"/>
                  <a:pt x="151805" y="164809"/>
                  <a:pt x="151805" y="151805"/>
                </a:cubicBezTo>
                <a:cubicBezTo>
                  <a:pt x="151805" y="112347"/>
                  <a:pt x="119825" y="80367"/>
                  <a:pt x="80367" y="80367"/>
                </a:cubicBezTo>
                <a:cubicBezTo>
                  <a:pt x="77353" y="80367"/>
                  <a:pt x="74340" y="80535"/>
                  <a:pt x="71438" y="80925"/>
                </a:cubicBezTo>
                <a:lnTo>
                  <a:pt x="71438" y="53578"/>
                </a:lnTo>
                <a:close/>
                <a:moveTo>
                  <a:pt x="185849" y="250031"/>
                </a:moveTo>
                <a:cubicBezTo>
                  <a:pt x="183003" y="236525"/>
                  <a:pt x="176752" y="224303"/>
                  <a:pt x="167934" y="214313"/>
                </a:cubicBezTo>
                <a:lnTo>
                  <a:pt x="339328" y="214313"/>
                </a:lnTo>
                <a:cubicBezTo>
                  <a:pt x="339328" y="234014"/>
                  <a:pt x="323310" y="250031"/>
                  <a:pt x="303609" y="250031"/>
                </a:cubicBezTo>
                <a:lnTo>
                  <a:pt x="185849" y="250031"/>
                </a:lnTo>
                <a:close/>
                <a:moveTo>
                  <a:pt x="35719" y="151805"/>
                </a:moveTo>
                <a:cubicBezTo>
                  <a:pt x="35719" y="127163"/>
                  <a:pt x="55725" y="107156"/>
                  <a:pt x="80367" y="107156"/>
                </a:cubicBezTo>
                <a:cubicBezTo>
                  <a:pt x="105009" y="107156"/>
                  <a:pt x="125016" y="127163"/>
                  <a:pt x="125016" y="151805"/>
                </a:cubicBezTo>
                <a:cubicBezTo>
                  <a:pt x="125016" y="176447"/>
                  <a:pt x="105009" y="196453"/>
                  <a:pt x="80367" y="196453"/>
                </a:cubicBezTo>
                <a:cubicBezTo>
                  <a:pt x="55725" y="196453"/>
                  <a:pt x="35719" y="176447"/>
                  <a:pt x="35719" y="151805"/>
                </a:cubicBezTo>
                <a:close/>
                <a:moveTo>
                  <a:pt x="0" y="267891"/>
                </a:moveTo>
                <a:cubicBezTo>
                  <a:pt x="0" y="238311"/>
                  <a:pt x="23999" y="214313"/>
                  <a:pt x="53578" y="214313"/>
                </a:cubicBezTo>
                <a:lnTo>
                  <a:pt x="107156" y="214313"/>
                </a:lnTo>
                <a:cubicBezTo>
                  <a:pt x="136736" y="214313"/>
                  <a:pt x="160734" y="238311"/>
                  <a:pt x="160734" y="267891"/>
                </a:cubicBezTo>
                <a:cubicBezTo>
                  <a:pt x="160734" y="277769"/>
                  <a:pt x="152753" y="285750"/>
                  <a:pt x="142875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8" name="Text 16"/>
          <p:cNvSpPr/>
          <p:nvPr/>
        </p:nvSpPr>
        <p:spPr>
          <a:xfrm>
            <a:off x="5257800" y="19621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授课模式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19613" y="2686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0" name="Text 18"/>
          <p:cNvSpPr/>
          <p:nvPr/>
        </p:nvSpPr>
        <p:spPr>
          <a:xfrm>
            <a:off x="4848225" y="2660652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理论授课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8225" y="2889252"/>
            <a:ext cx="1447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系统化知识体系构建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9613" y="3295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3" name="Text 21"/>
          <p:cNvSpPr/>
          <p:nvPr/>
        </p:nvSpPr>
        <p:spPr>
          <a:xfrm>
            <a:off x="4848225" y="3270252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案例研讨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8225" y="3498852"/>
            <a:ext cx="1295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真实商业场景分析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9613" y="3905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Text 24"/>
          <p:cNvSpPr/>
          <p:nvPr/>
        </p:nvSpPr>
        <p:spPr>
          <a:xfrm>
            <a:off x="4848225" y="3879852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实战工作坊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8225" y="4108452"/>
            <a:ext cx="1447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工具演练与方案设计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19613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Text 27"/>
          <p:cNvSpPr/>
          <p:nvPr/>
        </p:nvSpPr>
        <p:spPr>
          <a:xfrm>
            <a:off x="4848225" y="4489452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企业参访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8225" y="4718052"/>
            <a:ext cx="1295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标杆企业深度交流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53400" y="1562100"/>
            <a:ext cx="3657600" cy="3600450"/>
          </a:xfrm>
          <a:custGeom>
            <a:avLst/>
            <a:gdLst/>
            <a:ahLst/>
            <a:cxnLst/>
            <a:rect l="l" t="t" r="r" b="b"/>
            <a:pathLst>
              <a:path w="3657600" h="3600450">
                <a:moveTo>
                  <a:pt x="0" y="0"/>
                </a:moveTo>
                <a:lnTo>
                  <a:pt x="3657600" y="0"/>
                </a:lnTo>
                <a:lnTo>
                  <a:pt x="3657600" y="3600450"/>
                </a:lnTo>
                <a:lnTo>
                  <a:pt x="0" y="36004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2" name="Shape 30"/>
          <p:cNvSpPr/>
          <p:nvPr/>
        </p:nvSpPr>
        <p:spPr>
          <a:xfrm>
            <a:off x="8153400" y="156210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3" name="Shape 31"/>
          <p:cNvSpPr/>
          <p:nvPr/>
        </p:nvSpPr>
        <p:spPr>
          <a:xfrm>
            <a:off x="8382000" y="1809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4" name="Shape 32"/>
          <p:cNvSpPr/>
          <p:nvPr/>
        </p:nvSpPr>
        <p:spPr>
          <a:xfrm>
            <a:off x="8510588" y="197167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35" name="Text 33"/>
          <p:cNvSpPr/>
          <p:nvPr/>
        </p:nvSpPr>
        <p:spPr>
          <a:xfrm>
            <a:off x="9144000" y="196215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师资构成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295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Shape 35"/>
          <p:cNvSpPr/>
          <p:nvPr/>
        </p:nvSpPr>
        <p:spPr>
          <a:xfrm>
            <a:off x="8496300" y="3067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8" name="Text 36"/>
          <p:cNvSpPr/>
          <p:nvPr/>
        </p:nvSpPr>
        <p:spPr>
          <a:xfrm>
            <a:off x="8877300" y="2965452"/>
            <a:ext cx="990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浙江大学教授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877300" y="3194052"/>
            <a:ext cx="990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学术理论基础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2000" y="35623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1" name="Shape 39"/>
          <p:cNvSpPr/>
          <p:nvPr/>
        </p:nvSpPr>
        <p:spPr>
          <a:xfrm>
            <a:off x="849630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2" name="Text 40"/>
          <p:cNvSpPr/>
          <p:nvPr/>
        </p:nvSpPr>
        <p:spPr>
          <a:xfrm>
            <a:off x="8877300" y="3575052"/>
            <a:ext cx="1007765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Global AI专家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877300" y="3803652"/>
            <a:ext cx="990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实战经验传承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82000" y="4171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5" name="Shape 43"/>
          <p:cNvSpPr/>
          <p:nvPr/>
        </p:nvSpPr>
        <p:spPr>
          <a:xfrm>
            <a:off x="8496300" y="428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46" name="Text 44"/>
          <p:cNvSpPr/>
          <p:nvPr/>
        </p:nvSpPr>
        <p:spPr>
          <a:xfrm>
            <a:off x="8877300" y="4184652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行业领袖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77300" y="4413252"/>
            <a:ext cx="9906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成功案例分享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0050" y="5391150"/>
            <a:ext cx="11410950" cy="1333500"/>
          </a:xfrm>
          <a:custGeom>
            <a:avLst/>
            <a:gdLst/>
            <a:ahLst/>
            <a:cxnLst/>
            <a:rect l="l" t="t" r="r" b="b"/>
            <a:pathLst>
              <a:path w="11410950" h="1333500">
                <a:moveTo>
                  <a:pt x="0" y="0"/>
                </a:moveTo>
                <a:lnTo>
                  <a:pt x="11410950" y="0"/>
                </a:lnTo>
                <a:lnTo>
                  <a:pt x="114109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49" name="Shape 47"/>
          <p:cNvSpPr/>
          <p:nvPr/>
        </p:nvSpPr>
        <p:spPr>
          <a:xfrm>
            <a:off x="400050" y="5391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50" name="Text 48"/>
          <p:cNvSpPr/>
          <p:nvPr/>
        </p:nvSpPr>
        <p:spPr>
          <a:xfrm>
            <a:off x="647700" y="5619750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学习路径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7700" y="611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52" name="Text 50"/>
          <p:cNvSpPr/>
          <p:nvPr/>
        </p:nvSpPr>
        <p:spPr>
          <a:xfrm>
            <a:off x="604838" y="6115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3000" y="61912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认知构建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905000" y="6286500"/>
            <a:ext cx="1866900" cy="38100"/>
          </a:xfrm>
          <a:custGeom>
            <a:avLst/>
            <a:gdLst/>
            <a:ahLst/>
            <a:cxnLst/>
            <a:rect l="l" t="t" r="r" b="b"/>
            <a:pathLst>
              <a:path w="1866900" h="38100">
                <a:moveTo>
                  <a:pt x="0" y="0"/>
                </a:moveTo>
                <a:lnTo>
                  <a:pt x="1866900" y="0"/>
                </a:lnTo>
                <a:lnTo>
                  <a:pt x="18669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89A6A"/>
              </a:gs>
              <a:gs pos="100000">
                <a:srgbClr val="3A5A78"/>
              </a:gs>
            </a:gsLst>
            <a:lin ang="0" scaled="1"/>
          </a:gradFill>
        </p:spPr>
      </p:sp>
      <p:sp>
        <p:nvSpPr>
          <p:cNvPr id="55" name="Shape 53"/>
          <p:cNvSpPr/>
          <p:nvPr/>
        </p:nvSpPr>
        <p:spPr>
          <a:xfrm>
            <a:off x="3924300" y="611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56" name="Text 54"/>
          <p:cNvSpPr/>
          <p:nvPr/>
        </p:nvSpPr>
        <p:spPr>
          <a:xfrm>
            <a:off x="3881438" y="6115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419600" y="61912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战略规划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181600" y="6286500"/>
            <a:ext cx="1866900" cy="38100"/>
          </a:xfrm>
          <a:custGeom>
            <a:avLst/>
            <a:gdLst/>
            <a:ahLst/>
            <a:cxnLst/>
            <a:rect l="l" t="t" r="r" b="b"/>
            <a:pathLst>
              <a:path w="1866900" h="38100">
                <a:moveTo>
                  <a:pt x="0" y="0"/>
                </a:moveTo>
                <a:lnTo>
                  <a:pt x="1866900" y="0"/>
                </a:lnTo>
                <a:lnTo>
                  <a:pt x="18669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89A6A"/>
              </a:gs>
              <a:gs pos="100000">
                <a:srgbClr val="3A5A78"/>
              </a:gs>
            </a:gsLst>
            <a:lin ang="0" scaled="1"/>
          </a:gradFill>
        </p:spPr>
      </p:sp>
      <p:sp>
        <p:nvSpPr>
          <p:cNvPr id="59" name="Shape 57"/>
          <p:cNvSpPr/>
          <p:nvPr/>
        </p:nvSpPr>
        <p:spPr>
          <a:xfrm>
            <a:off x="7200900" y="611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0" name="Text 58"/>
          <p:cNvSpPr/>
          <p:nvPr/>
        </p:nvSpPr>
        <p:spPr>
          <a:xfrm>
            <a:off x="7158038" y="6115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96200" y="61912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执行落地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58200" y="6286500"/>
            <a:ext cx="1866900" cy="38100"/>
          </a:xfrm>
          <a:custGeom>
            <a:avLst/>
            <a:gdLst/>
            <a:ahLst/>
            <a:cxnLst/>
            <a:rect l="l" t="t" r="r" b="b"/>
            <a:pathLst>
              <a:path w="1866900" h="38100">
                <a:moveTo>
                  <a:pt x="0" y="0"/>
                </a:moveTo>
                <a:lnTo>
                  <a:pt x="1866900" y="0"/>
                </a:lnTo>
                <a:lnTo>
                  <a:pt x="18669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89A6A"/>
              </a:gs>
              <a:gs pos="100000">
                <a:srgbClr val="3A5A78"/>
              </a:gs>
            </a:gsLst>
            <a:lin ang="0" scaled="1"/>
          </a:gradFill>
        </p:spPr>
      </p:sp>
      <p:sp>
        <p:nvSpPr>
          <p:cNvPr id="63" name="Shape 61"/>
          <p:cNvSpPr/>
          <p:nvPr/>
        </p:nvSpPr>
        <p:spPr>
          <a:xfrm>
            <a:off x="10477500" y="611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4" name="Text 62"/>
          <p:cNvSpPr/>
          <p:nvPr/>
        </p:nvSpPr>
        <p:spPr>
          <a:xfrm>
            <a:off x="10434638" y="61150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972800" y="61912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持续进化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doooor.com/7c65ceffa6886c8f30fc77ff03082bab8e5161b2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1161" b="1116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A7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90525" y="644426"/>
            <a:ext cx="2066925" cy="438150"/>
          </a:xfrm>
          <a:custGeom>
            <a:avLst/>
            <a:gdLst/>
            <a:ahLst/>
            <a:cxnLst/>
            <a:rect l="l" t="t" r="r" b="b"/>
            <a:pathLst>
              <a:path w="2066925" h="438150">
                <a:moveTo>
                  <a:pt x="0" y="0"/>
                </a:moveTo>
                <a:lnTo>
                  <a:pt x="2066925" y="0"/>
                </a:lnTo>
                <a:lnTo>
                  <a:pt x="20669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B89A6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650" y="761902"/>
            <a:ext cx="1688406" cy="196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45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96901"/>
            <a:ext cx="7658100" cy="143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模块一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企业家AI认知构建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41762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9" name="Text 6"/>
          <p:cNvSpPr/>
          <p:nvPr/>
        </p:nvSpPr>
        <p:spPr>
          <a:xfrm>
            <a:off x="381000" y="3357245"/>
            <a:ext cx="4610735" cy="1505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全球AI大模型技术发展现状与趋势研判 </a:t>
            </a:r>
            <a:endParaRPr lang="en-US" sz="1500" b="1" dirty="0">
              <a:solidFill>
                <a:srgbClr val="B89A6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从数字化到智能化的认知升级路径</a:t>
            </a:r>
            <a:endParaRPr lang="en-US" sz="1500" b="1" dirty="0">
              <a:solidFill>
                <a:srgbClr val="B89A6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AI思维与传统思维的差异与融合</a:t>
            </a:r>
            <a:r>
              <a:rPr lang="en-US" sz="15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5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实战案例：Global AI投资项目+6MAI领导力认知框架</a:t>
            </a:r>
            <a:endParaRPr lang="en-US" sz="1500" b="1" dirty="0">
              <a:solidFill>
                <a:srgbClr val="B89A6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0050" y="5156299"/>
            <a:ext cx="7296150" cy="1066800"/>
          </a:xfrm>
          <a:custGeom>
            <a:avLst/>
            <a:gdLst/>
            <a:ahLst/>
            <a:cxnLst/>
            <a:rect l="l" t="t" r="r" b="b"/>
            <a:pathLst>
              <a:path w="7296150" h="1066800">
                <a:moveTo>
                  <a:pt x="0" y="0"/>
                </a:moveTo>
                <a:lnTo>
                  <a:pt x="7296150" y="0"/>
                </a:lnTo>
                <a:lnTo>
                  <a:pt x="729615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1" name="Shape 8"/>
          <p:cNvSpPr/>
          <p:nvPr/>
        </p:nvSpPr>
        <p:spPr>
          <a:xfrm>
            <a:off x="400050" y="5156299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2" name="Shape 9"/>
          <p:cNvSpPr/>
          <p:nvPr/>
        </p:nvSpPr>
        <p:spPr>
          <a:xfrm>
            <a:off x="685800" y="538489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3" name="Text 10"/>
          <p:cNvSpPr/>
          <p:nvPr/>
        </p:nvSpPr>
        <p:spPr>
          <a:xfrm>
            <a:off x="1157288" y="5384899"/>
            <a:ext cx="2647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学习产出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57605" y="5727700"/>
            <a:ext cx="6556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企业家AI认知战略的复盘与AI新物种在行业的实践推导升级路线图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2705" y="3444240"/>
            <a:ext cx="4787900" cy="1102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导师：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李明顺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zh-CN" altLang="en-US" sz="1600" dirty="0">
                <a:solidFill>
                  <a:schemeClr val="bg1"/>
                </a:solidFill>
              </a:rPr>
              <a:t>行行</a:t>
            </a:r>
            <a:r>
              <a:rPr lang="en-US" altLang="zh-CN" sz="1600" dirty="0">
                <a:solidFill>
                  <a:schemeClr val="bg1"/>
                </a:solidFill>
              </a:rPr>
              <a:t>AI</a:t>
            </a:r>
            <a:r>
              <a:rPr lang="zh-CN" altLang="en-US" sz="1600" dirty="0">
                <a:solidFill>
                  <a:schemeClr val="bg1"/>
                </a:solidFill>
              </a:rPr>
              <a:t>董事长、顺福资本创始合伙人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安</a:t>
            </a:r>
            <a:r>
              <a:rPr lang="en-US" altLang="zh-CN" sz="1600" dirty="0">
                <a:solidFill>
                  <a:schemeClr val="bg1"/>
                </a:solidFill>
              </a:rPr>
              <a:t>   </a:t>
            </a:r>
            <a:r>
              <a:rPr lang="zh-CN" altLang="en-US" sz="1600" dirty="0">
                <a:solidFill>
                  <a:schemeClr val="bg1"/>
                </a:solidFill>
              </a:rPr>
              <a:t>替</a:t>
            </a:r>
            <a:r>
              <a:rPr lang="en-US" altLang="zh-CN" sz="1600" dirty="0">
                <a:solidFill>
                  <a:schemeClr val="bg1"/>
                </a:solidFill>
              </a:rPr>
              <a:t>  </a:t>
            </a:r>
            <a:r>
              <a:rPr lang="zh-CN" altLang="en-US" sz="1600" dirty="0">
                <a:solidFill>
                  <a:schemeClr val="bg1"/>
                </a:solidFill>
              </a:rPr>
              <a:t>财新世界说</a:t>
            </a:r>
            <a:r>
              <a:rPr lang="en-US" altLang="zh-CN" sz="1600" dirty="0">
                <a:solidFill>
                  <a:schemeClr val="bg1"/>
                </a:solidFill>
              </a:rPr>
              <a:t>CEO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STRATEGY MATRIX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模块二至五：6M业务升级战略矩阵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1066800" cy="57150"/>
          </a:xfrm>
          <a:custGeom>
            <a:avLst/>
            <a:gdLst/>
            <a:ahLst/>
            <a:cxnLst/>
            <a:rect l="l" t="t" r="r" b="b"/>
            <a:pathLst>
              <a:path w="1066800" h="57150">
                <a:moveTo>
                  <a:pt x="0" y="0"/>
                </a:moveTo>
                <a:lnTo>
                  <a:pt x="1066800" y="0"/>
                </a:lnTo>
                <a:lnTo>
                  <a:pt x="1066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257810" y="1543050"/>
            <a:ext cx="5600700" cy="2583180"/>
          </a:xfrm>
          <a:custGeom>
            <a:avLst/>
            <a:gdLst/>
            <a:ahLst/>
            <a:cxnLst/>
            <a:rect l="l" t="t" r="r" b="b"/>
            <a:pathLst>
              <a:path w="5600700" h="2524125">
                <a:moveTo>
                  <a:pt x="0" y="0"/>
                </a:moveTo>
                <a:lnTo>
                  <a:pt x="5600700" y="0"/>
                </a:lnTo>
                <a:lnTo>
                  <a:pt x="56007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6" name="Shape 4"/>
          <p:cNvSpPr/>
          <p:nvPr/>
        </p:nvSpPr>
        <p:spPr>
          <a:xfrm>
            <a:off x="257810" y="1543050"/>
            <a:ext cx="38100" cy="2524125"/>
          </a:xfrm>
          <a:custGeom>
            <a:avLst/>
            <a:gdLst/>
            <a:ahLst/>
            <a:cxnLst/>
            <a:rect l="l" t="t" r="r" b="b"/>
            <a:pathLst>
              <a:path w="38100" h="2524125">
                <a:moveTo>
                  <a:pt x="0" y="0"/>
                </a:moveTo>
                <a:lnTo>
                  <a:pt x="38100" y="0"/>
                </a:lnTo>
                <a:lnTo>
                  <a:pt x="381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Shape 5"/>
          <p:cNvSpPr/>
          <p:nvPr/>
        </p:nvSpPr>
        <p:spPr>
          <a:xfrm>
            <a:off x="647700" y="160909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Text 6"/>
          <p:cNvSpPr/>
          <p:nvPr/>
        </p:nvSpPr>
        <p:spPr>
          <a:xfrm>
            <a:off x="438150" y="160909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23390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企业6M业务AI升级战略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223393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基于岗位谈6M产品AI化的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如何重构业务模型与实施路径</a:t>
            </a:r>
            <a:endParaRPr lang="en-US" sz="1200" b="1" dirty="0">
              <a:solidFill>
                <a:srgbClr val="B89A6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5300" y="257683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传统业务与AI</a:t>
            </a:r>
            <a:r>
              <a:rPr lang="zh-CN" altLang="en-US" sz="120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大模型技术的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协同发展策略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300" y="2919730"/>
            <a:ext cx="3858260" cy="36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altLang="zh-CN" sz="120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120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新物种产品进化学习、闭环反馈和数据飞轮所形成的</a:t>
            </a:r>
            <a:r>
              <a:rPr lang="zh-CN" alt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指数增长机会和迭代效应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" y="3797300"/>
            <a:ext cx="5124450" cy="6350"/>
          </a:xfrm>
          <a:custGeom>
            <a:avLst/>
            <a:gdLst/>
            <a:ahLst/>
            <a:cxnLst/>
            <a:rect l="l" t="t" r="r" b="b"/>
            <a:pathLst>
              <a:path w="5124450" h="6350">
                <a:moveTo>
                  <a:pt x="0" y="0"/>
                </a:moveTo>
                <a:lnTo>
                  <a:pt x="5124450" y="0"/>
                </a:lnTo>
                <a:lnTo>
                  <a:pt x="51244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14" name="Shape 12"/>
          <p:cNvSpPr/>
          <p:nvPr/>
        </p:nvSpPr>
        <p:spPr>
          <a:xfrm>
            <a:off x="471805" y="38544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5" name="Text 13"/>
          <p:cNvSpPr/>
          <p:nvPr/>
        </p:nvSpPr>
        <p:spPr>
          <a:xfrm>
            <a:off x="667385" y="3803653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学习产出：企业6MAI升级方案设计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0300" y="1543050"/>
            <a:ext cx="5772150" cy="2583180"/>
          </a:xfrm>
          <a:custGeom>
            <a:avLst/>
            <a:gdLst/>
            <a:ahLst/>
            <a:cxnLst/>
            <a:rect l="l" t="t" r="r" b="b"/>
            <a:pathLst>
              <a:path w="5600700" h="2524125">
                <a:moveTo>
                  <a:pt x="0" y="0"/>
                </a:moveTo>
                <a:lnTo>
                  <a:pt x="5600700" y="0"/>
                </a:lnTo>
                <a:lnTo>
                  <a:pt x="56007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7" name="Shape 15"/>
          <p:cNvSpPr/>
          <p:nvPr/>
        </p:nvSpPr>
        <p:spPr>
          <a:xfrm>
            <a:off x="6210300" y="1543050"/>
            <a:ext cx="38100" cy="2524125"/>
          </a:xfrm>
          <a:custGeom>
            <a:avLst/>
            <a:gdLst/>
            <a:ahLst/>
            <a:cxnLst/>
            <a:rect l="l" t="t" r="r" b="b"/>
            <a:pathLst>
              <a:path w="38100" h="2524125">
                <a:moveTo>
                  <a:pt x="0" y="0"/>
                </a:moveTo>
                <a:lnTo>
                  <a:pt x="38100" y="0"/>
                </a:lnTo>
                <a:lnTo>
                  <a:pt x="381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8" name="Shape 16"/>
          <p:cNvSpPr/>
          <p:nvPr/>
        </p:nvSpPr>
        <p:spPr>
          <a:xfrm>
            <a:off x="6457950" y="17716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Text 17"/>
          <p:cNvSpPr/>
          <p:nvPr/>
        </p:nvSpPr>
        <p:spPr>
          <a:xfrm>
            <a:off x="6400800" y="163957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5650" y="1753870"/>
            <a:ext cx="1943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AI全球化增长战略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7950" y="232537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全球市场格局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与区域机会分析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7950" y="266827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跨境业务拓展的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合规与本地化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57950" y="301117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多中心布局下的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资源协同策略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7950" y="3848100"/>
            <a:ext cx="5124450" cy="6350"/>
          </a:xfrm>
          <a:custGeom>
            <a:avLst/>
            <a:gdLst/>
            <a:ahLst/>
            <a:cxnLst/>
            <a:rect l="l" t="t" r="r" b="b"/>
            <a:pathLst>
              <a:path w="5124450" h="6350">
                <a:moveTo>
                  <a:pt x="0" y="0"/>
                </a:moveTo>
                <a:lnTo>
                  <a:pt x="5124450" y="0"/>
                </a:lnTo>
                <a:lnTo>
                  <a:pt x="51244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25" name="Shape 23"/>
          <p:cNvSpPr/>
          <p:nvPr/>
        </p:nvSpPr>
        <p:spPr>
          <a:xfrm>
            <a:off x="6486525" y="38989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Text 24"/>
          <p:cNvSpPr/>
          <p:nvPr/>
        </p:nvSpPr>
        <p:spPr>
          <a:xfrm>
            <a:off x="6705600" y="3860803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学习产出：AI全球化增长路线图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7810" y="4254503"/>
            <a:ext cx="5600700" cy="2524125"/>
          </a:xfrm>
          <a:custGeom>
            <a:avLst/>
            <a:gdLst/>
            <a:ahLst/>
            <a:cxnLst/>
            <a:rect l="l" t="t" r="r" b="b"/>
            <a:pathLst>
              <a:path w="5600700" h="2524125">
                <a:moveTo>
                  <a:pt x="0" y="0"/>
                </a:moveTo>
                <a:lnTo>
                  <a:pt x="5600700" y="0"/>
                </a:lnTo>
                <a:lnTo>
                  <a:pt x="56007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8" name="Shape 26"/>
          <p:cNvSpPr/>
          <p:nvPr/>
        </p:nvSpPr>
        <p:spPr>
          <a:xfrm>
            <a:off x="257810" y="4254503"/>
            <a:ext cx="38100" cy="2524125"/>
          </a:xfrm>
          <a:custGeom>
            <a:avLst/>
            <a:gdLst/>
            <a:ahLst/>
            <a:cxnLst/>
            <a:rect l="l" t="t" r="r" b="b"/>
            <a:pathLst>
              <a:path w="38100" h="2524125">
                <a:moveTo>
                  <a:pt x="0" y="0"/>
                </a:moveTo>
                <a:lnTo>
                  <a:pt x="38100" y="0"/>
                </a:lnTo>
                <a:lnTo>
                  <a:pt x="381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Shape 27"/>
          <p:cNvSpPr/>
          <p:nvPr/>
        </p:nvSpPr>
        <p:spPr>
          <a:xfrm>
            <a:off x="523875" y="434340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0" name="Text 28"/>
          <p:cNvSpPr/>
          <p:nvPr/>
        </p:nvSpPr>
        <p:spPr>
          <a:xfrm>
            <a:off x="462915" y="4274820"/>
            <a:ext cx="647700" cy="622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3160" y="4433573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企业营销AI实战指南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5460" y="491490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AI驱动的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客户洞察与精准营销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5460" y="522732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智能内容生成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与个性化营销体系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5460" y="552958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营销效果的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数据监测与优化闭环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5155" y="6318253"/>
            <a:ext cx="5124450" cy="6350"/>
          </a:xfrm>
          <a:custGeom>
            <a:avLst/>
            <a:gdLst/>
            <a:ahLst/>
            <a:cxnLst/>
            <a:rect l="l" t="t" r="r" b="b"/>
            <a:pathLst>
              <a:path w="5124450" h="6350">
                <a:moveTo>
                  <a:pt x="0" y="0"/>
                </a:moveTo>
                <a:lnTo>
                  <a:pt x="5124450" y="0"/>
                </a:lnTo>
                <a:lnTo>
                  <a:pt x="51244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36" name="Shape 34"/>
          <p:cNvSpPr/>
          <p:nvPr/>
        </p:nvSpPr>
        <p:spPr>
          <a:xfrm>
            <a:off x="534035" y="63563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Text 35"/>
          <p:cNvSpPr/>
          <p:nvPr/>
        </p:nvSpPr>
        <p:spPr>
          <a:xfrm>
            <a:off x="753110" y="6318252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学习产出：AI营销实施方案与效果预测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0300" y="4254500"/>
            <a:ext cx="5772785" cy="2524125"/>
          </a:xfrm>
          <a:custGeom>
            <a:avLst/>
            <a:gdLst/>
            <a:ahLst/>
            <a:cxnLst/>
            <a:rect l="l" t="t" r="r" b="b"/>
            <a:pathLst>
              <a:path w="5600700" h="2524125">
                <a:moveTo>
                  <a:pt x="0" y="0"/>
                </a:moveTo>
                <a:lnTo>
                  <a:pt x="5600700" y="0"/>
                </a:lnTo>
                <a:lnTo>
                  <a:pt x="56007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9" name="Shape 37"/>
          <p:cNvSpPr/>
          <p:nvPr/>
        </p:nvSpPr>
        <p:spPr>
          <a:xfrm>
            <a:off x="6210300" y="4254503"/>
            <a:ext cx="38100" cy="2524125"/>
          </a:xfrm>
          <a:custGeom>
            <a:avLst/>
            <a:gdLst/>
            <a:ahLst/>
            <a:cxnLst/>
            <a:rect l="l" t="t" r="r" b="b"/>
            <a:pathLst>
              <a:path w="38100" h="2524125">
                <a:moveTo>
                  <a:pt x="0" y="0"/>
                </a:moveTo>
                <a:lnTo>
                  <a:pt x="38100" y="0"/>
                </a:lnTo>
                <a:lnTo>
                  <a:pt x="381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0" name="Shape 38"/>
          <p:cNvSpPr/>
          <p:nvPr/>
        </p:nvSpPr>
        <p:spPr>
          <a:xfrm>
            <a:off x="6457950" y="43713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1" name="Text 39"/>
          <p:cNvSpPr/>
          <p:nvPr/>
        </p:nvSpPr>
        <p:spPr>
          <a:xfrm>
            <a:off x="6400800" y="4343403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05650" y="4353563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企业组织架构AI重构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7950" y="492506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AI时代的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组织变革逻辑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57950" y="522732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敏捷型组织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与AI团队建设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7950" y="5539743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人机协同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的工作模式设计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57950" y="6332858"/>
            <a:ext cx="5124450" cy="6350"/>
          </a:xfrm>
          <a:custGeom>
            <a:avLst/>
            <a:gdLst/>
            <a:ahLst/>
            <a:cxnLst/>
            <a:rect l="l" t="t" r="r" b="b"/>
            <a:pathLst>
              <a:path w="5124450" h="6350">
                <a:moveTo>
                  <a:pt x="0" y="0"/>
                </a:moveTo>
                <a:lnTo>
                  <a:pt x="5124450" y="0"/>
                </a:lnTo>
                <a:lnTo>
                  <a:pt x="51244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47" name="Shape 45"/>
          <p:cNvSpPr/>
          <p:nvPr/>
        </p:nvSpPr>
        <p:spPr>
          <a:xfrm>
            <a:off x="6486525" y="648843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8" name="Text 46"/>
          <p:cNvSpPr/>
          <p:nvPr/>
        </p:nvSpPr>
        <p:spPr>
          <a:xfrm>
            <a:off x="6705600" y="6450332"/>
            <a:ext cx="495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学习产出：组织架构AI化重构方案</a:t>
            </a:r>
            <a:endParaRPr lang="en-US" sz="1600" dirty="0"/>
          </a:p>
        </p:txBody>
      </p:sp>
      <p:sp>
        <p:nvSpPr>
          <p:cNvPr id="49" name="Text 5"/>
          <p:cNvSpPr/>
          <p:nvPr/>
        </p:nvSpPr>
        <p:spPr>
          <a:xfrm>
            <a:off x="3963035" y="1609090"/>
            <a:ext cx="203771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傅盛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猎豹移动董事长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0" name="Text 10"/>
          <p:cNvSpPr/>
          <p:nvPr/>
        </p:nvSpPr>
        <p:spPr>
          <a:xfrm>
            <a:off x="523875" y="3373755"/>
            <a:ext cx="385826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 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实战工具：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AI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时代的产品技术架构设计和产品研发体系的</a:t>
            </a:r>
            <a:r>
              <a:rPr lang="en-US" sz="120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新组织模式</a:t>
            </a:r>
            <a:endParaRPr 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6486525" y="3373755"/>
            <a:ext cx="5324475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 实战工具：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基于硅谷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新加坡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悉尼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巴萨罗那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香港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东京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北京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上海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深圳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-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杭州全球多中心项目经验</a:t>
            </a:r>
            <a:endParaRPr lang="zh-CN" alt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2" name="Text 5"/>
          <p:cNvSpPr/>
          <p:nvPr/>
        </p:nvSpPr>
        <p:spPr>
          <a:xfrm>
            <a:off x="9110980" y="1639570"/>
            <a:ext cx="2699385" cy="1565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李明顺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行行</a:t>
            </a:r>
            <a:r>
              <a:rPr lang="en-US" altLang="zh-CN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董事长、顺福资本创始合伙人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赵徳鹏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日本</a:t>
            </a:r>
            <a:r>
              <a:rPr lang="en-US" altLang="zh-CN" sz="1200" dirty="0">
                <a:solidFill>
                  <a:schemeClr val="bg1"/>
                </a:solidFill>
              </a:rPr>
              <a:t>Robotbank</a:t>
            </a:r>
            <a:r>
              <a:rPr lang="zh-CN" altLang="en-US" sz="1200" dirty="0">
                <a:solidFill>
                  <a:schemeClr val="bg1"/>
                </a:solidFill>
              </a:rPr>
              <a:t>创始人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朱</a:t>
            </a:r>
            <a:r>
              <a:rPr lang="en-US" altLang="zh-CN" sz="1200" dirty="0">
                <a:solidFill>
                  <a:schemeClr val="bg1"/>
                </a:solidFill>
              </a:rPr>
              <a:t>  </a:t>
            </a:r>
            <a:r>
              <a:rPr lang="zh-CN" altLang="en-US" sz="1200" dirty="0">
                <a:solidFill>
                  <a:schemeClr val="bg1"/>
                </a:solidFill>
              </a:rPr>
              <a:t>鹤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易点天下集团海外业务负责人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Alex Chu  </a:t>
            </a:r>
            <a:r>
              <a:rPr lang="zh-CN" altLang="en-US" sz="1200" dirty="0">
                <a:solidFill>
                  <a:schemeClr val="bg1"/>
                </a:solidFill>
              </a:rPr>
              <a:t>硅谷</a:t>
            </a:r>
            <a:r>
              <a:rPr lang="en-US" altLang="zh-CN" sz="1200" dirty="0">
                <a:solidFill>
                  <a:schemeClr val="bg1"/>
                </a:solidFill>
              </a:rPr>
              <a:t>Scrumball AI</a:t>
            </a:r>
            <a:r>
              <a:rPr lang="zh-CN" altLang="en-US" sz="1200" dirty="0">
                <a:solidFill>
                  <a:schemeClr val="bg1"/>
                </a:solidFill>
              </a:rPr>
              <a:t>创始人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54" name="Text 10"/>
          <p:cNvSpPr/>
          <p:nvPr/>
        </p:nvSpPr>
        <p:spPr>
          <a:xfrm>
            <a:off x="505460" y="5829300"/>
            <a:ext cx="385826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 实战工具：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推荐的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AI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营销策略和应用分析</a:t>
            </a:r>
            <a:endParaRPr lang="zh-CN" alt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5" name="Text 5"/>
          <p:cNvSpPr/>
          <p:nvPr/>
        </p:nvSpPr>
        <p:spPr>
          <a:xfrm>
            <a:off x="3348990" y="4375150"/>
            <a:ext cx="2573020" cy="1364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白鸦</a:t>
            </a:r>
            <a:r>
              <a:rPr lang="en-US" altLang="zh-CN" sz="1200" dirty="0">
                <a:solidFill>
                  <a:schemeClr val="bg1"/>
                </a:solidFill>
              </a:rPr>
              <a:t>  </a:t>
            </a:r>
            <a:r>
              <a:rPr lang="zh-CN" altLang="en-US" sz="1200" dirty="0">
                <a:solidFill>
                  <a:schemeClr val="bg1"/>
                </a:solidFill>
              </a:rPr>
              <a:t>有赞集团</a:t>
            </a:r>
            <a:r>
              <a:rPr lang="en-US" altLang="zh-CN" sz="1200" dirty="0">
                <a:solidFill>
                  <a:schemeClr val="bg1"/>
                </a:solidFill>
              </a:rPr>
              <a:t>  CEO</a:t>
            </a:r>
            <a:endParaRPr lang="en-US" altLang="zh-CN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马龙</a:t>
            </a:r>
            <a:r>
              <a:rPr lang="en-US" altLang="zh-CN" sz="1200" dirty="0">
                <a:solidFill>
                  <a:schemeClr val="bg1"/>
                </a:solidFill>
              </a:rPr>
              <a:t>  </a:t>
            </a:r>
            <a:r>
              <a:rPr lang="zh-CN" altLang="en-US" sz="1200" dirty="0">
                <a:solidFill>
                  <a:schemeClr val="bg1"/>
                </a:solidFill>
              </a:rPr>
              <a:t>字节前</a:t>
            </a:r>
            <a:r>
              <a:rPr lang="en-US" altLang="zh-CN" sz="1200" dirty="0">
                <a:solidFill>
                  <a:schemeClr val="bg1"/>
                </a:solidFill>
              </a:rPr>
              <a:t>Cupcut</a:t>
            </a:r>
            <a:r>
              <a:rPr lang="zh-CN" altLang="en-US" sz="1200" dirty="0">
                <a:solidFill>
                  <a:schemeClr val="bg1"/>
                </a:solidFill>
              </a:rPr>
              <a:t>产品负责人、硅谷</a:t>
            </a:r>
            <a:r>
              <a:rPr lang="en-US" altLang="zh-CN" sz="1200" dirty="0">
                <a:solidFill>
                  <a:schemeClr val="bg1"/>
                </a:solidFill>
              </a:rPr>
              <a:t>creatify.ai</a:t>
            </a:r>
            <a:r>
              <a:rPr lang="zh-CN" altLang="en-US" sz="1200" dirty="0">
                <a:solidFill>
                  <a:schemeClr val="bg1"/>
                </a:solidFill>
              </a:rPr>
              <a:t>联合创始人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江志强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前阿里高管、人人网</a:t>
            </a:r>
            <a:r>
              <a:rPr lang="en-US" altLang="zh-CN" sz="1200" dirty="0">
                <a:solidFill>
                  <a:schemeClr val="bg1"/>
                </a:solidFill>
              </a:rPr>
              <a:t>CMO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6" name="Text 10"/>
          <p:cNvSpPr/>
          <p:nvPr/>
        </p:nvSpPr>
        <p:spPr>
          <a:xfrm>
            <a:off x="6486525" y="5864225"/>
            <a:ext cx="5324475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 实战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案例</a:t>
            </a:r>
            <a:r>
              <a:rPr 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：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从一人独角兽项目案例来拆解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 I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时代</a:t>
            </a:r>
            <a:r>
              <a:rPr lang="en-US" altLang="zh-CN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Agent</a:t>
            </a:r>
            <a:r>
              <a:rPr lang="zh-CN" altLang="en-US" sz="120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机制的内部利用与组织贡献</a:t>
            </a:r>
            <a:endParaRPr lang="zh-CN" altLang="en-US" sz="120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7" name="Text 5"/>
          <p:cNvSpPr/>
          <p:nvPr/>
        </p:nvSpPr>
        <p:spPr>
          <a:xfrm>
            <a:off x="9618980" y="4343400"/>
            <a:ext cx="2267585" cy="799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戴科彬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猎聘创始人、董事长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梁公军</a:t>
            </a:r>
            <a:r>
              <a:rPr lang="en-US" altLang="zh-CN" sz="1200" dirty="0">
                <a:solidFill>
                  <a:schemeClr val="bg1"/>
                </a:solidFill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</a:rPr>
              <a:t>海纳</a:t>
            </a:r>
            <a:r>
              <a:rPr lang="en-US" altLang="zh-CN" sz="1200" dirty="0">
                <a:solidFill>
                  <a:schemeClr val="bg1"/>
                </a:solidFill>
              </a:rPr>
              <a:t>AI </a:t>
            </a:r>
            <a:r>
              <a:rPr lang="zh-CN" altLang="en-US" sz="1200" dirty="0">
                <a:solidFill>
                  <a:schemeClr val="bg1"/>
                </a:solidFill>
              </a:rPr>
              <a:t>创始人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563" y="102883"/>
            <a:ext cx="11586186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kern="0" spc="318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DATA &amp; CAPITAL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563" y="405790"/>
            <a:ext cx="11670327" cy="336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模块六至九：数据驱动与资本战略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563" y="876978"/>
            <a:ext cx="942377" cy="50484"/>
          </a:xfrm>
          <a:custGeom>
            <a:avLst/>
            <a:gdLst/>
            <a:ahLst/>
            <a:cxnLst/>
            <a:rect l="l" t="t" r="r" b="b"/>
            <a:pathLst>
              <a:path w="942377" h="50484">
                <a:moveTo>
                  <a:pt x="0" y="0"/>
                </a:moveTo>
                <a:lnTo>
                  <a:pt x="942377" y="0"/>
                </a:lnTo>
                <a:lnTo>
                  <a:pt x="942377" y="50484"/>
                </a:lnTo>
                <a:lnTo>
                  <a:pt x="0" y="50484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353695" y="1033145"/>
            <a:ext cx="5637530" cy="2527935"/>
          </a:xfrm>
          <a:custGeom>
            <a:avLst/>
            <a:gdLst/>
            <a:ahLst/>
            <a:cxnLst/>
            <a:rect l="l" t="t" r="r" b="b"/>
            <a:pathLst>
              <a:path w="5637433" h="2263387">
                <a:moveTo>
                  <a:pt x="0" y="0"/>
                </a:moveTo>
                <a:lnTo>
                  <a:pt x="5637433" y="0"/>
                </a:lnTo>
                <a:lnTo>
                  <a:pt x="5637433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6" name="Shape 4"/>
          <p:cNvSpPr/>
          <p:nvPr/>
        </p:nvSpPr>
        <p:spPr>
          <a:xfrm flipH="1">
            <a:off x="349885" y="1038225"/>
            <a:ext cx="76200" cy="2494915"/>
          </a:xfrm>
          <a:custGeom>
            <a:avLst/>
            <a:gdLst/>
            <a:ahLst/>
            <a:cxnLst/>
            <a:rect l="l" t="t" r="r" b="b"/>
            <a:pathLst>
              <a:path w="33656" h="2263387">
                <a:moveTo>
                  <a:pt x="0" y="0"/>
                </a:moveTo>
                <a:lnTo>
                  <a:pt x="33656" y="0"/>
                </a:lnTo>
                <a:lnTo>
                  <a:pt x="33656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  <p:txBody>
          <a:bodyPr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61340" y="1229995"/>
            <a:ext cx="471170" cy="471170"/>
          </a:xfrm>
          <a:custGeom>
            <a:avLst/>
            <a:gdLst/>
            <a:ahLst/>
            <a:cxnLst/>
            <a:rect l="l" t="t" r="r" b="b"/>
            <a:pathLst>
              <a:path w="471188" h="471188">
                <a:moveTo>
                  <a:pt x="0" y="0"/>
                </a:moveTo>
                <a:lnTo>
                  <a:pt x="471188" y="0"/>
                </a:lnTo>
                <a:lnTo>
                  <a:pt x="471188" y="471188"/>
                </a:lnTo>
                <a:lnTo>
                  <a:pt x="0" y="47118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Text 6"/>
          <p:cNvSpPr/>
          <p:nvPr/>
        </p:nvSpPr>
        <p:spPr>
          <a:xfrm>
            <a:off x="521673" y="1229739"/>
            <a:ext cx="572157" cy="471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4315" y="1310388"/>
            <a:ext cx="2524224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业务模型化与数据飞轮闭环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2157" y="1815232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业务模型化的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方法论与实践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2157" y="2118139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数据采集、治理与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价值挖掘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2157" y="2421046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数据飞轮的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构建与迭代优化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7557" y="3112204"/>
            <a:ext cx="5216729" cy="5609"/>
          </a:xfrm>
          <a:custGeom>
            <a:avLst/>
            <a:gdLst/>
            <a:ahLst/>
            <a:cxnLst/>
            <a:rect l="l" t="t" r="r" b="b"/>
            <a:pathLst>
              <a:path w="5216729" h="5609">
                <a:moveTo>
                  <a:pt x="0" y="0"/>
                </a:moveTo>
                <a:lnTo>
                  <a:pt x="5216729" y="0"/>
                </a:lnTo>
                <a:lnTo>
                  <a:pt x="5216729" y="5609"/>
                </a:lnTo>
                <a:lnTo>
                  <a:pt x="0" y="5609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14" name="Shape 12"/>
          <p:cNvSpPr/>
          <p:nvPr/>
        </p:nvSpPr>
        <p:spPr>
          <a:xfrm>
            <a:off x="597400" y="3324566"/>
            <a:ext cx="117797" cy="134625"/>
          </a:xfrm>
          <a:custGeom>
            <a:avLst/>
            <a:gdLst/>
            <a:ahLst/>
            <a:cxnLst/>
            <a:rect l="l" t="t" r="r" b="b"/>
            <a:pathLst>
              <a:path w="117797" h="134625">
                <a:moveTo>
                  <a:pt x="64657" y="-6810"/>
                </a:moveTo>
                <a:cubicBezTo>
                  <a:pt x="61134" y="-8966"/>
                  <a:pt x="56690" y="-8966"/>
                  <a:pt x="53166" y="-6810"/>
                </a:cubicBezTo>
                <a:cubicBezTo>
                  <a:pt x="46751" y="-2892"/>
                  <a:pt x="42780" y="-1841"/>
                  <a:pt x="35260" y="-1998"/>
                </a:cubicBezTo>
                <a:cubicBezTo>
                  <a:pt x="31132" y="-2104"/>
                  <a:pt x="27293" y="131"/>
                  <a:pt x="25295" y="3760"/>
                </a:cubicBezTo>
                <a:cubicBezTo>
                  <a:pt x="21693" y="10360"/>
                  <a:pt x="18774" y="13278"/>
                  <a:pt x="12174" y="16881"/>
                </a:cubicBezTo>
                <a:cubicBezTo>
                  <a:pt x="8546" y="18853"/>
                  <a:pt x="6337" y="22718"/>
                  <a:pt x="6416" y="26846"/>
                </a:cubicBezTo>
                <a:cubicBezTo>
                  <a:pt x="6600" y="34366"/>
                  <a:pt x="5522" y="38337"/>
                  <a:pt x="1604" y="44752"/>
                </a:cubicBezTo>
                <a:cubicBezTo>
                  <a:pt x="-552" y="48276"/>
                  <a:pt x="-552" y="52719"/>
                  <a:pt x="1604" y="56243"/>
                </a:cubicBezTo>
                <a:cubicBezTo>
                  <a:pt x="5522" y="62659"/>
                  <a:pt x="6573" y="66629"/>
                  <a:pt x="6416" y="74149"/>
                </a:cubicBezTo>
                <a:cubicBezTo>
                  <a:pt x="6311" y="78277"/>
                  <a:pt x="8546" y="82116"/>
                  <a:pt x="12174" y="84114"/>
                </a:cubicBezTo>
                <a:cubicBezTo>
                  <a:pt x="17985" y="87296"/>
                  <a:pt x="20930" y="89925"/>
                  <a:pt x="24033" y="95027"/>
                </a:cubicBezTo>
                <a:lnTo>
                  <a:pt x="11228" y="120558"/>
                </a:lnTo>
                <a:cubicBezTo>
                  <a:pt x="9676" y="123687"/>
                  <a:pt x="10938" y="127473"/>
                  <a:pt x="14041" y="129025"/>
                </a:cubicBezTo>
                <a:lnTo>
                  <a:pt x="36654" y="140331"/>
                </a:lnTo>
                <a:cubicBezTo>
                  <a:pt x="39678" y="141830"/>
                  <a:pt x="43359" y="140699"/>
                  <a:pt x="44989" y="137754"/>
                </a:cubicBezTo>
                <a:lnTo>
                  <a:pt x="58872" y="112749"/>
                </a:lnTo>
                <a:lnTo>
                  <a:pt x="72755" y="137754"/>
                </a:lnTo>
                <a:cubicBezTo>
                  <a:pt x="74386" y="140699"/>
                  <a:pt x="78067" y="141856"/>
                  <a:pt x="81091" y="140331"/>
                </a:cubicBezTo>
                <a:lnTo>
                  <a:pt x="103704" y="129025"/>
                </a:lnTo>
                <a:cubicBezTo>
                  <a:pt x="106833" y="127473"/>
                  <a:pt x="108095" y="123687"/>
                  <a:pt x="106517" y="120558"/>
                </a:cubicBezTo>
                <a:lnTo>
                  <a:pt x="93738" y="95000"/>
                </a:lnTo>
                <a:cubicBezTo>
                  <a:pt x="96814" y="89899"/>
                  <a:pt x="99786" y="87270"/>
                  <a:pt x="105597" y="84088"/>
                </a:cubicBezTo>
                <a:cubicBezTo>
                  <a:pt x="109225" y="82116"/>
                  <a:pt x="111434" y="78251"/>
                  <a:pt x="111355" y="74123"/>
                </a:cubicBezTo>
                <a:cubicBezTo>
                  <a:pt x="111171" y="66603"/>
                  <a:pt x="112249" y="62632"/>
                  <a:pt x="116167" y="56217"/>
                </a:cubicBezTo>
                <a:cubicBezTo>
                  <a:pt x="118323" y="52693"/>
                  <a:pt x="118323" y="48249"/>
                  <a:pt x="116167" y="44726"/>
                </a:cubicBezTo>
                <a:cubicBezTo>
                  <a:pt x="112249" y="38310"/>
                  <a:pt x="111197" y="34340"/>
                  <a:pt x="111355" y="26820"/>
                </a:cubicBezTo>
                <a:cubicBezTo>
                  <a:pt x="111460" y="22692"/>
                  <a:pt x="109225" y="18853"/>
                  <a:pt x="105597" y="16854"/>
                </a:cubicBezTo>
                <a:cubicBezTo>
                  <a:pt x="98997" y="13252"/>
                  <a:pt x="96078" y="10334"/>
                  <a:pt x="92476" y="3734"/>
                </a:cubicBezTo>
                <a:cubicBezTo>
                  <a:pt x="90504" y="105"/>
                  <a:pt x="86639" y="-2104"/>
                  <a:pt x="82511" y="-2025"/>
                </a:cubicBezTo>
                <a:cubicBezTo>
                  <a:pt x="74990" y="-1841"/>
                  <a:pt x="71020" y="-2919"/>
                  <a:pt x="64604" y="-6836"/>
                </a:cubicBezTo>
                <a:close/>
                <a:moveTo>
                  <a:pt x="58899" y="25242"/>
                </a:moveTo>
                <a:cubicBezTo>
                  <a:pt x="72830" y="25242"/>
                  <a:pt x="84141" y="36553"/>
                  <a:pt x="84141" y="50484"/>
                </a:cubicBezTo>
                <a:cubicBezTo>
                  <a:pt x="84141" y="64416"/>
                  <a:pt x="72830" y="75727"/>
                  <a:pt x="58899" y="75727"/>
                </a:cubicBezTo>
                <a:cubicBezTo>
                  <a:pt x="44967" y="75727"/>
                  <a:pt x="33656" y="64416"/>
                  <a:pt x="33656" y="50484"/>
                </a:cubicBezTo>
                <a:cubicBezTo>
                  <a:pt x="33656" y="36553"/>
                  <a:pt x="44967" y="25242"/>
                  <a:pt x="58899" y="2524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5" name="Text 13"/>
          <p:cNvSpPr/>
          <p:nvPr/>
        </p:nvSpPr>
        <p:spPr>
          <a:xfrm>
            <a:off x="785035" y="3179150"/>
            <a:ext cx="507116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学习产出：企业数据飞轮建设方案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3695" y="3696970"/>
            <a:ext cx="5637530" cy="2535555"/>
          </a:xfrm>
          <a:custGeom>
            <a:avLst/>
            <a:gdLst/>
            <a:ahLst/>
            <a:cxnLst/>
            <a:rect l="l" t="t" r="r" b="b"/>
            <a:pathLst>
              <a:path w="5637433" h="2263387">
                <a:moveTo>
                  <a:pt x="0" y="0"/>
                </a:moveTo>
                <a:lnTo>
                  <a:pt x="5637433" y="0"/>
                </a:lnTo>
                <a:lnTo>
                  <a:pt x="5637433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7" name="Shape 15"/>
          <p:cNvSpPr/>
          <p:nvPr/>
        </p:nvSpPr>
        <p:spPr>
          <a:xfrm>
            <a:off x="353695" y="3697605"/>
            <a:ext cx="76200" cy="2534920"/>
          </a:xfrm>
          <a:custGeom>
            <a:avLst/>
            <a:gdLst/>
            <a:ahLst/>
            <a:cxnLst/>
            <a:rect l="l" t="t" r="r" b="b"/>
            <a:pathLst>
              <a:path w="33656" h="2263387">
                <a:moveTo>
                  <a:pt x="0" y="0"/>
                </a:moveTo>
                <a:lnTo>
                  <a:pt x="33656" y="0"/>
                </a:lnTo>
                <a:lnTo>
                  <a:pt x="33656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8" name="Shape 16"/>
          <p:cNvSpPr/>
          <p:nvPr/>
        </p:nvSpPr>
        <p:spPr>
          <a:xfrm>
            <a:off x="572157" y="3783702"/>
            <a:ext cx="471188" cy="471188"/>
          </a:xfrm>
          <a:custGeom>
            <a:avLst/>
            <a:gdLst/>
            <a:ahLst/>
            <a:cxnLst/>
            <a:rect l="l" t="t" r="r" b="b"/>
            <a:pathLst>
              <a:path w="471188" h="471188">
                <a:moveTo>
                  <a:pt x="0" y="0"/>
                </a:moveTo>
                <a:lnTo>
                  <a:pt x="471188" y="0"/>
                </a:lnTo>
                <a:lnTo>
                  <a:pt x="471188" y="471188"/>
                </a:lnTo>
                <a:lnTo>
                  <a:pt x="0" y="47118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Text 17"/>
          <p:cNvSpPr/>
          <p:nvPr/>
        </p:nvSpPr>
        <p:spPr>
          <a:xfrm>
            <a:off x="521673" y="3783702"/>
            <a:ext cx="572157" cy="471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4315" y="3884671"/>
            <a:ext cx="2120348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企业AI人才培养与创新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2157" y="4389515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AI人才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梯队建设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与能力模型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2157" y="4692422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创新激励机制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与文化建设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2157" y="4995329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持续学习体系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与知识管理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2157" y="5710617"/>
            <a:ext cx="5216729" cy="5609"/>
          </a:xfrm>
          <a:custGeom>
            <a:avLst/>
            <a:gdLst/>
            <a:ahLst/>
            <a:cxnLst/>
            <a:rect l="l" t="t" r="r" b="b"/>
            <a:pathLst>
              <a:path w="5216729" h="5609">
                <a:moveTo>
                  <a:pt x="0" y="0"/>
                </a:moveTo>
                <a:lnTo>
                  <a:pt x="5216729" y="0"/>
                </a:lnTo>
                <a:lnTo>
                  <a:pt x="5216729" y="5609"/>
                </a:lnTo>
                <a:lnTo>
                  <a:pt x="0" y="5609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25" name="Shape 23"/>
          <p:cNvSpPr/>
          <p:nvPr/>
        </p:nvSpPr>
        <p:spPr>
          <a:xfrm>
            <a:off x="597400" y="5848045"/>
            <a:ext cx="117797" cy="134625"/>
          </a:xfrm>
          <a:custGeom>
            <a:avLst/>
            <a:gdLst/>
            <a:ahLst/>
            <a:cxnLst/>
            <a:rect l="l" t="t" r="r" b="b"/>
            <a:pathLst>
              <a:path w="117797" h="134625">
                <a:moveTo>
                  <a:pt x="64657" y="-6810"/>
                </a:moveTo>
                <a:cubicBezTo>
                  <a:pt x="61134" y="-8966"/>
                  <a:pt x="56690" y="-8966"/>
                  <a:pt x="53166" y="-6810"/>
                </a:cubicBezTo>
                <a:cubicBezTo>
                  <a:pt x="46751" y="-2892"/>
                  <a:pt x="42780" y="-1841"/>
                  <a:pt x="35260" y="-1998"/>
                </a:cubicBezTo>
                <a:cubicBezTo>
                  <a:pt x="31132" y="-2104"/>
                  <a:pt x="27293" y="131"/>
                  <a:pt x="25295" y="3760"/>
                </a:cubicBezTo>
                <a:cubicBezTo>
                  <a:pt x="21693" y="10360"/>
                  <a:pt x="18774" y="13278"/>
                  <a:pt x="12174" y="16881"/>
                </a:cubicBezTo>
                <a:cubicBezTo>
                  <a:pt x="8546" y="18853"/>
                  <a:pt x="6337" y="22718"/>
                  <a:pt x="6416" y="26846"/>
                </a:cubicBezTo>
                <a:cubicBezTo>
                  <a:pt x="6600" y="34366"/>
                  <a:pt x="5522" y="38337"/>
                  <a:pt x="1604" y="44752"/>
                </a:cubicBezTo>
                <a:cubicBezTo>
                  <a:pt x="-552" y="48276"/>
                  <a:pt x="-552" y="52719"/>
                  <a:pt x="1604" y="56243"/>
                </a:cubicBezTo>
                <a:cubicBezTo>
                  <a:pt x="5522" y="62659"/>
                  <a:pt x="6573" y="66629"/>
                  <a:pt x="6416" y="74149"/>
                </a:cubicBezTo>
                <a:cubicBezTo>
                  <a:pt x="6311" y="78277"/>
                  <a:pt x="8546" y="82116"/>
                  <a:pt x="12174" y="84114"/>
                </a:cubicBezTo>
                <a:cubicBezTo>
                  <a:pt x="17985" y="87296"/>
                  <a:pt x="20930" y="89925"/>
                  <a:pt x="24033" y="95027"/>
                </a:cubicBezTo>
                <a:lnTo>
                  <a:pt x="11228" y="120558"/>
                </a:lnTo>
                <a:cubicBezTo>
                  <a:pt x="9676" y="123687"/>
                  <a:pt x="10938" y="127473"/>
                  <a:pt x="14041" y="129025"/>
                </a:cubicBezTo>
                <a:lnTo>
                  <a:pt x="36654" y="140331"/>
                </a:lnTo>
                <a:cubicBezTo>
                  <a:pt x="39678" y="141830"/>
                  <a:pt x="43359" y="140699"/>
                  <a:pt x="44989" y="137754"/>
                </a:cubicBezTo>
                <a:lnTo>
                  <a:pt x="58872" y="112749"/>
                </a:lnTo>
                <a:lnTo>
                  <a:pt x="72755" y="137754"/>
                </a:lnTo>
                <a:cubicBezTo>
                  <a:pt x="74386" y="140699"/>
                  <a:pt x="78067" y="141856"/>
                  <a:pt x="81091" y="140331"/>
                </a:cubicBezTo>
                <a:lnTo>
                  <a:pt x="103704" y="129025"/>
                </a:lnTo>
                <a:cubicBezTo>
                  <a:pt x="106833" y="127473"/>
                  <a:pt x="108095" y="123687"/>
                  <a:pt x="106517" y="120558"/>
                </a:cubicBezTo>
                <a:lnTo>
                  <a:pt x="93738" y="95000"/>
                </a:lnTo>
                <a:cubicBezTo>
                  <a:pt x="96814" y="89899"/>
                  <a:pt x="99786" y="87270"/>
                  <a:pt x="105597" y="84088"/>
                </a:cubicBezTo>
                <a:cubicBezTo>
                  <a:pt x="109225" y="82116"/>
                  <a:pt x="111434" y="78251"/>
                  <a:pt x="111355" y="74123"/>
                </a:cubicBezTo>
                <a:cubicBezTo>
                  <a:pt x="111171" y="66603"/>
                  <a:pt x="112249" y="62632"/>
                  <a:pt x="116167" y="56217"/>
                </a:cubicBezTo>
                <a:cubicBezTo>
                  <a:pt x="118323" y="52693"/>
                  <a:pt x="118323" y="48249"/>
                  <a:pt x="116167" y="44726"/>
                </a:cubicBezTo>
                <a:cubicBezTo>
                  <a:pt x="112249" y="38310"/>
                  <a:pt x="111197" y="34340"/>
                  <a:pt x="111355" y="26820"/>
                </a:cubicBezTo>
                <a:cubicBezTo>
                  <a:pt x="111460" y="22692"/>
                  <a:pt x="109225" y="18853"/>
                  <a:pt x="105597" y="16854"/>
                </a:cubicBezTo>
                <a:cubicBezTo>
                  <a:pt x="98997" y="13252"/>
                  <a:pt x="96078" y="10334"/>
                  <a:pt x="92476" y="3734"/>
                </a:cubicBezTo>
                <a:cubicBezTo>
                  <a:pt x="90504" y="105"/>
                  <a:pt x="86639" y="-2104"/>
                  <a:pt x="82511" y="-2025"/>
                </a:cubicBezTo>
                <a:cubicBezTo>
                  <a:pt x="74990" y="-1841"/>
                  <a:pt x="71020" y="-2919"/>
                  <a:pt x="64604" y="-6836"/>
                </a:cubicBezTo>
                <a:close/>
                <a:moveTo>
                  <a:pt x="58899" y="25242"/>
                </a:moveTo>
                <a:cubicBezTo>
                  <a:pt x="72830" y="25242"/>
                  <a:pt x="84141" y="36553"/>
                  <a:pt x="84141" y="50484"/>
                </a:cubicBezTo>
                <a:cubicBezTo>
                  <a:pt x="84141" y="64416"/>
                  <a:pt x="72830" y="75727"/>
                  <a:pt x="58899" y="75727"/>
                </a:cubicBezTo>
                <a:cubicBezTo>
                  <a:pt x="44967" y="75727"/>
                  <a:pt x="33656" y="64416"/>
                  <a:pt x="33656" y="50484"/>
                </a:cubicBezTo>
                <a:cubicBezTo>
                  <a:pt x="33656" y="36553"/>
                  <a:pt x="44967" y="25242"/>
                  <a:pt x="58899" y="2524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Text 24"/>
          <p:cNvSpPr/>
          <p:nvPr/>
        </p:nvSpPr>
        <p:spPr>
          <a:xfrm>
            <a:off x="785035" y="5814389"/>
            <a:ext cx="507116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学习产出：企业AI人才培养计划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3475" y="1038225"/>
            <a:ext cx="5637530" cy="2526665"/>
          </a:xfrm>
          <a:custGeom>
            <a:avLst/>
            <a:gdLst/>
            <a:ahLst/>
            <a:cxnLst/>
            <a:rect l="l" t="t" r="r" b="b"/>
            <a:pathLst>
              <a:path w="5637433" h="2263387">
                <a:moveTo>
                  <a:pt x="0" y="0"/>
                </a:moveTo>
                <a:lnTo>
                  <a:pt x="5637433" y="0"/>
                </a:lnTo>
                <a:lnTo>
                  <a:pt x="5637433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8" name="Shape 26"/>
          <p:cNvSpPr/>
          <p:nvPr/>
        </p:nvSpPr>
        <p:spPr>
          <a:xfrm flipH="1">
            <a:off x="6212840" y="1033145"/>
            <a:ext cx="76200" cy="2531745"/>
          </a:xfrm>
          <a:custGeom>
            <a:avLst/>
            <a:gdLst/>
            <a:ahLst/>
            <a:cxnLst/>
            <a:rect l="l" t="t" r="r" b="b"/>
            <a:pathLst>
              <a:path w="33656" h="2263387">
                <a:moveTo>
                  <a:pt x="0" y="0"/>
                </a:moveTo>
                <a:lnTo>
                  <a:pt x="33656" y="0"/>
                </a:lnTo>
                <a:lnTo>
                  <a:pt x="33656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9" name="Shape 27"/>
          <p:cNvSpPr/>
          <p:nvPr/>
        </p:nvSpPr>
        <p:spPr>
          <a:xfrm>
            <a:off x="6432037" y="1229739"/>
            <a:ext cx="471188" cy="471188"/>
          </a:xfrm>
          <a:custGeom>
            <a:avLst/>
            <a:gdLst/>
            <a:ahLst/>
            <a:cxnLst/>
            <a:rect l="l" t="t" r="r" b="b"/>
            <a:pathLst>
              <a:path w="471188" h="471188">
                <a:moveTo>
                  <a:pt x="0" y="0"/>
                </a:moveTo>
                <a:lnTo>
                  <a:pt x="471188" y="0"/>
                </a:lnTo>
                <a:lnTo>
                  <a:pt x="471188" y="471188"/>
                </a:lnTo>
                <a:lnTo>
                  <a:pt x="0" y="47118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0" name="Text 28"/>
          <p:cNvSpPr/>
          <p:nvPr/>
        </p:nvSpPr>
        <p:spPr>
          <a:xfrm>
            <a:off x="6381553" y="1178939"/>
            <a:ext cx="572157" cy="471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04050" y="1310640"/>
            <a:ext cx="2583815" cy="269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AI优先与企业资本战略核心</a:t>
            </a:r>
            <a:endParaRPr lang="en-US" sz="1590" b="1" dirty="0">
              <a:solidFill>
                <a:srgbClr val="E8E8E8"/>
              </a:solidFill>
              <a:latin typeface="Alimama ShuHeiTi" pitchFamily="34" charset="-122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2037" y="1794912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AI企业的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估值逻辑与融资策略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32037" y="2097819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投资机构视角下的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AI项目评估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2037" y="2400726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资本运作与退出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路径规划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2037" y="3100139"/>
            <a:ext cx="5216729" cy="5609"/>
          </a:xfrm>
          <a:custGeom>
            <a:avLst/>
            <a:gdLst/>
            <a:ahLst/>
            <a:cxnLst/>
            <a:rect l="l" t="t" r="r" b="b"/>
            <a:pathLst>
              <a:path w="5216729" h="5609">
                <a:moveTo>
                  <a:pt x="0" y="0"/>
                </a:moveTo>
                <a:lnTo>
                  <a:pt x="5216729" y="0"/>
                </a:lnTo>
                <a:lnTo>
                  <a:pt x="5216729" y="5609"/>
                </a:lnTo>
                <a:lnTo>
                  <a:pt x="0" y="5609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36" name="Shape 34"/>
          <p:cNvSpPr/>
          <p:nvPr/>
        </p:nvSpPr>
        <p:spPr>
          <a:xfrm>
            <a:off x="6457280" y="3273766"/>
            <a:ext cx="117797" cy="134625"/>
          </a:xfrm>
          <a:custGeom>
            <a:avLst/>
            <a:gdLst/>
            <a:ahLst/>
            <a:cxnLst/>
            <a:rect l="l" t="t" r="r" b="b"/>
            <a:pathLst>
              <a:path w="117797" h="134625">
                <a:moveTo>
                  <a:pt x="64657" y="-6810"/>
                </a:moveTo>
                <a:cubicBezTo>
                  <a:pt x="61134" y="-8966"/>
                  <a:pt x="56690" y="-8966"/>
                  <a:pt x="53166" y="-6810"/>
                </a:cubicBezTo>
                <a:cubicBezTo>
                  <a:pt x="46751" y="-2892"/>
                  <a:pt x="42780" y="-1841"/>
                  <a:pt x="35260" y="-1998"/>
                </a:cubicBezTo>
                <a:cubicBezTo>
                  <a:pt x="31132" y="-2104"/>
                  <a:pt x="27293" y="131"/>
                  <a:pt x="25295" y="3760"/>
                </a:cubicBezTo>
                <a:cubicBezTo>
                  <a:pt x="21693" y="10360"/>
                  <a:pt x="18774" y="13278"/>
                  <a:pt x="12174" y="16881"/>
                </a:cubicBezTo>
                <a:cubicBezTo>
                  <a:pt x="8546" y="18853"/>
                  <a:pt x="6337" y="22718"/>
                  <a:pt x="6416" y="26846"/>
                </a:cubicBezTo>
                <a:cubicBezTo>
                  <a:pt x="6600" y="34366"/>
                  <a:pt x="5522" y="38337"/>
                  <a:pt x="1604" y="44752"/>
                </a:cubicBezTo>
                <a:cubicBezTo>
                  <a:pt x="-552" y="48276"/>
                  <a:pt x="-552" y="52719"/>
                  <a:pt x="1604" y="56243"/>
                </a:cubicBezTo>
                <a:cubicBezTo>
                  <a:pt x="5522" y="62659"/>
                  <a:pt x="6573" y="66629"/>
                  <a:pt x="6416" y="74149"/>
                </a:cubicBezTo>
                <a:cubicBezTo>
                  <a:pt x="6311" y="78277"/>
                  <a:pt x="8546" y="82116"/>
                  <a:pt x="12174" y="84114"/>
                </a:cubicBezTo>
                <a:cubicBezTo>
                  <a:pt x="17985" y="87296"/>
                  <a:pt x="20930" y="89925"/>
                  <a:pt x="24033" y="95027"/>
                </a:cubicBezTo>
                <a:lnTo>
                  <a:pt x="11228" y="120558"/>
                </a:lnTo>
                <a:cubicBezTo>
                  <a:pt x="9676" y="123687"/>
                  <a:pt x="10938" y="127473"/>
                  <a:pt x="14041" y="129025"/>
                </a:cubicBezTo>
                <a:lnTo>
                  <a:pt x="36654" y="140331"/>
                </a:lnTo>
                <a:cubicBezTo>
                  <a:pt x="39678" y="141830"/>
                  <a:pt x="43359" y="140699"/>
                  <a:pt x="44989" y="137754"/>
                </a:cubicBezTo>
                <a:lnTo>
                  <a:pt x="58872" y="112749"/>
                </a:lnTo>
                <a:lnTo>
                  <a:pt x="72755" y="137754"/>
                </a:lnTo>
                <a:cubicBezTo>
                  <a:pt x="74386" y="140699"/>
                  <a:pt x="78067" y="141856"/>
                  <a:pt x="81091" y="140331"/>
                </a:cubicBezTo>
                <a:lnTo>
                  <a:pt x="103704" y="129025"/>
                </a:lnTo>
                <a:cubicBezTo>
                  <a:pt x="106833" y="127473"/>
                  <a:pt x="108095" y="123687"/>
                  <a:pt x="106517" y="120558"/>
                </a:cubicBezTo>
                <a:lnTo>
                  <a:pt x="93738" y="95000"/>
                </a:lnTo>
                <a:cubicBezTo>
                  <a:pt x="96814" y="89899"/>
                  <a:pt x="99786" y="87270"/>
                  <a:pt x="105597" y="84088"/>
                </a:cubicBezTo>
                <a:cubicBezTo>
                  <a:pt x="109225" y="82116"/>
                  <a:pt x="111434" y="78251"/>
                  <a:pt x="111355" y="74123"/>
                </a:cubicBezTo>
                <a:cubicBezTo>
                  <a:pt x="111171" y="66603"/>
                  <a:pt x="112249" y="62632"/>
                  <a:pt x="116167" y="56217"/>
                </a:cubicBezTo>
                <a:cubicBezTo>
                  <a:pt x="118323" y="52693"/>
                  <a:pt x="118323" y="48249"/>
                  <a:pt x="116167" y="44726"/>
                </a:cubicBezTo>
                <a:cubicBezTo>
                  <a:pt x="112249" y="38310"/>
                  <a:pt x="111197" y="34340"/>
                  <a:pt x="111355" y="26820"/>
                </a:cubicBezTo>
                <a:cubicBezTo>
                  <a:pt x="111460" y="22692"/>
                  <a:pt x="109225" y="18853"/>
                  <a:pt x="105597" y="16854"/>
                </a:cubicBezTo>
                <a:cubicBezTo>
                  <a:pt x="98997" y="13252"/>
                  <a:pt x="96078" y="10334"/>
                  <a:pt x="92476" y="3734"/>
                </a:cubicBezTo>
                <a:cubicBezTo>
                  <a:pt x="90504" y="105"/>
                  <a:pt x="86639" y="-2104"/>
                  <a:pt x="82511" y="-2025"/>
                </a:cubicBezTo>
                <a:cubicBezTo>
                  <a:pt x="74990" y="-1841"/>
                  <a:pt x="71020" y="-2919"/>
                  <a:pt x="64604" y="-6836"/>
                </a:cubicBezTo>
                <a:close/>
                <a:moveTo>
                  <a:pt x="58899" y="25242"/>
                </a:moveTo>
                <a:cubicBezTo>
                  <a:pt x="72830" y="25242"/>
                  <a:pt x="84141" y="36553"/>
                  <a:pt x="84141" y="50484"/>
                </a:cubicBezTo>
                <a:cubicBezTo>
                  <a:pt x="84141" y="64416"/>
                  <a:pt x="72830" y="75727"/>
                  <a:pt x="58899" y="75727"/>
                </a:cubicBezTo>
                <a:cubicBezTo>
                  <a:pt x="44967" y="75727"/>
                  <a:pt x="33656" y="64416"/>
                  <a:pt x="33656" y="50484"/>
                </a:cubicBezTo>
                <a:cubicBezTo>
                  <a:pt x="33656" y="36553"/>
                  <a:pt x="44967" y="25242"/>
                  <a:pt x="58899" y="2524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Text 35"/>
          <p:cNvSpPr/>
          <p:nvPr/>
        </p:nvSpPr>
        <p:spPr>
          <a:xfrm>
            <a:off x="6644915" y="3240110"/>
            <a:ext cx="507116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学习产出：企业AI资本战略规划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3475" y="3696970"/>
            <a:ext cx="5637530" cy="2535555"/>
          </a:xfrm>
          <a:custGeom>
            <a:avLst/>
            <a:gdLst/>
            <a:ahLst/>
            <a:cxnLst/>
            <a:rect l="l" t="t" r="r" b="b"/>
            <a:pathLst>
              <a:path w="5637433" h="2263387">
                <a:moveTo>
                  <a:pt x="0" y="0"/>
                </a:moveTo>
                <a:lnTo>
                  <a:pt x="5637433" y="0"/>
                </a:lnTo>
                <a:lnTo>
                  <a:pt x="5637433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9" name="Shape 37"/>
          <p:cNvSpPr/>
          <p:nvPr/>
        </p:nvSpPr>
        <p:spPr>
          <a:xfrm>
            <a:off x="6213475" y="3696970"/>
            <a:ext cx="76200" cy="2536190"/>
          </a:xfrm>
          <a:custGeom>
            <a:avLst/>
            <a:gdLst/>
            <a:ahLst/>
            <a:cxnLst/>
            <a:rect l="l" t="t" r="r" b="b"/>
            <a:pathLst>
              <a:path w="33656" h="2263387">
                <a:moveTo>
                  <a:pt x="0" y="0"/>
                </a:moveTo>
                <a:lnTo>
                  <a:pt x="33656" y="0"/>
                </a:lnTo>
                <a:lnTo>
                  <a:pt x="33656" y="2263387"/>
                </a:lnTo>
                <a:lnTo>
                  <a:pt x="0" y="226338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0" name="Shape 38"/>
          <p:cNvSpPr/>
          <p:nvPr/>
        </p:nvSpPr>
        <p:spPr>
          <a:xfrm>
            <a:off x="6432037" y="3783702"/>
            <a:ext cx="471188" cy="471188"/>
          </a:xfrm>
          <a:custGeom>
            <a:avLst/>
            <a:gdLst/>
            <a:ahLst/>
            <a:cxnLst/>
            <a:rect l="l" t="t" r="r" b="b"/>
            <a:pathLst>
              <a:path w="471188" h="471188">
                <a:moveTo>
                  <a:pt x="0" y="0"/>
                </a:moveTo>
                <a:lnTo>
                  <a:pt x="471188" y="0"/>
                </a:lnTo>
                <a:lnTo>
                  <a:pt x="471188" y="471188"/>
                </a:lnTo>
                <a:lnTo>
                  <a:pt x="0" y="47118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41" name="Text 39"/>
          <p:cNvSpPr/>
          <p:nvPr/>
        </p:nvSpPr>
        <p:spPr>
          <a:xfrm>
            <a:off x="6381553" y="3783702"/>
            <a:ext cx="572157" cy="471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0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04195" y="3884671"/>
            <a:ext cx="1918410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合规持续经营与传承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2037" y="4389515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企业治理框架与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合规体系建设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32037" y="4692422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企业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风险管理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与可持续发展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2037" y="4995329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AI时代的</a:t>
            </a:r>
            <a:r>
              <a:rPr lang="en-US" sz="1060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企业安全与传承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32037" y="5700457"/>
            <a:ext cx="5216729" cy="5609"/>
          </a:xfrm>
          <a:custGeom>
            <a:avLst/>
            <a:gdLst/>
            <a:ahLst/>
            <a:cxnLst/>
            <a:rect l="l" t="t" r="r" b="b"/>
            <a:pathLst>
              <a:path w="5216729" h="5609">
                <a:moveTo>
                  <a:pt x="0" y="0"/>
                </a:moveTo>
                <a:lnTo>
                  <a:pt x="5216729" y="0"/>
                </a:lnTo>
                <a:lnTo>
                  <a:pt x="5216729" y="5609"/>
                </a:lnTo>
                <a:lnTo>
                  <a:pt x="0" y="5609"/>
                </a:lnTo>
                <a:lnTo>
                  <a:pt x="0" y="0"/>
                </a:lnTo>
                <a:close/>
              </a:path>
            </a:pathLst>
          </a:custGeom>
          <a:solidFill>
            <a:srgbClr val="6D7B8D"/>
          </a:solidFill>
        </p:spPr>
      </p:sp>
      <p:sp>
        <p:nvSpPr>
          <p:cNvPr id="47" name="Shape 45"/>
          <p:cNvSpPr/>
          <p:nvPr/>
        </p:nvSpPr>
        <p:spPr>
          <a:xfrm>
            <a:off x="6457280" y="5837885"/>
            <a:ext cx="117797" cy="134625"/>
          </a:xfrm>
          <a:custGeom>
            <a:avLst/>
            <a:gdLst/>
            <a:ahLst/>
            <a:cxnLst/>
            <a:rect l="l" t="t" r="r" b="b"/>
            <a:pathLst>
              <a:path w="117797" h="134625">
                <a:moveTo>
                  <a:pt x="64657" y="-6810"/>
                </a:moveTo>
                <a:cubicBezTo>
                  <a:pt x="61134" y="-8966"/>
                  <a:pt x="56690" y="-8966"/>
                  <a:pt x="53166" y="-6810"/>
                </a:cubicBezTo>
                <a:cubicBezTo>
                  <a:pt x="46751" y="-2892"/>
                  <a:pt x="42780" y="-1841"/>
                  <a:pt x="35260" y="-1998"/>
                </a:cubicBezTo>
                <a:cubicBezTo>
                  <a:pt x="31132" y="-2104"/>
                  <a:pt x="27293" y="131"/>
                  <a:pt x="25295" y="3760"/>
                </a:cubicBezTo>
                <a:cubicBezTo>
                  <a:pt x="21693" y="10360"/>
                  <a:pt x="18774" y="13278"/>
                  <a:pt x="12174" y="16881"/>
                </a:cubicBezTo>
                <a:cubicBezTo>
                  <a:pt x="8546" y="18853"/>
                  <a:pt x="6337" y="22718"/>
                  <a:pt x="6416" y="26846"/>
                </a:cubicBezTo>
                <a:cubicBezTo>
                  <a:pt x="6600" y="34366"/>
                  <a:pt x="5522" y="38337"/>
                  <a:pt x="1604" y="44752"/>
                </a:cubicBezTo>
                <a:cubicBezTo>
                  <a:pt x="-552" y="48276"/>
                  <a:pt x="-552" y="52719"/>
                  <a:pt x="1604" y="56243"/>
                </a:cubicBezTo>
                <a:cubicBezTo>
                  <a:pt x="5522" y="62659"/>
                  <a:pt x="6573" y="66629"/>
                  <a:pt x="6416" y="74149"/>
                </a:cubicBezTo>
                <a:cubicBezTo>
                  <a:pt x="6311" y="78277"/>
                  <a:pt x="8546" y="82116"/>
                  <a:pt x="12174" y="84114"/>
                </a:cubicBezTo>
                <a:cubicBezTo>
                  <a:pt x="17985" y="87296"/>
                  <a:pt x="20930" y="89925"/>
                  <a:pt x="24033" y="95027"/>
                </a:cubicBezTo>
                <a:lnTo>
                  <a:pt x="11228" y="120558"/>
                </a:lnTo>
                <a:cubicBezTo>
                  <a:pt x="9676" y="123687"/>
                  <a:pt x="10938" y="127473"/>
                  <a:pt x="14041" y="129025"/>
                </a:cubicBezTo>
                <a:lnTo>
                  <a:pt x="36654" y="140331"/>
                </a:lnTo>
                <a:cubicBezTo>
                  <a:pt x="39678" y="141830"/>
                  <a:pt x="43359" y="140699"/>
                  <a:pt x="44989" y="137754"/>
                </a:cubicBezTo>
                <a:lnTo>
                  <a:pt x="58872" y="112749"/>
                </a:lnTo>
                <a:lnTo>
                  <a:pt x="72755" y="137754"/>
                </a:lnTo>
                <a:cubicBezTo>
                  <a:pt x="74386" y="140699"/>
                  <a:pt x="78067" y="141856"/>
                  <a:pt x="81091" y="140331"/>
                </a:cubicBezTo>
                <a:lnTo>
                  <a:pt x="103704" y="129025"/>
                </a:lnTo>
                <a:cubicBezTo>
                  <a:pt x="106833" y="127473"/>
                  <a:pt x="108095" y="123687"/>
                  <a:pt x="106517" y="120558"/>
                </a:cubicBezTo>
                <a:lnTo>
                  <a:pt x="93738" y="95000"/>
                </a:lnTo>
                <a:cubicBezTo>
                  <a:pt x="96814" y="89899"/>
                  <a:pt x="99786" y="87270"/>
                  <a:pt x="105597" y="84088"/>
                </a:cubicBezTo>
                <a:cubicBezTo>
                  <a:pt x="109225" y="82116"/>
                  <a:pt x="111434" y="78251"/>
                  <a:pt x="111355" y="74123"/>
                </a:cubicBezTo>
                <a:cubicBezTo>
                  <a:pt x="111171" y="66603"/>
                  <a:pt x="112249" y="62632"/>
                  <a:pt x="116167" y="56217"/>
                </a:cubicBezTo>
                <a:cubicBezTo>
                  <a:pt x="118323" y="52693"/>
                  <a:pt x="118323" y="48249"/>
                  <a:pt x="116167" y="44726"/>
                </a:cubicBezTo>
                <a:cubicBezTo>
                  <a:pt x="112249" y="38310"/>
                  <a:pt x="111197" y="34340"/>
                  <a:pt x="111355" y="26820"/>
                </a:cubicBezTo>
                <a:cubicBezTo>
                  <a:pt x="111460" y="22692"/>
                  <a:pt x="109225" y="18853"/>
                  <a:pt x="105597" y="16854"/>
                </a:cubicBezTo>
                <a:cubicBezTo>
                  <a:pt x="98997" y="13252"/>
                  <a:pt x="96078" y="10334"/>
                  <a:pt x="92476" y="3734"/>
                </a:cubicBezTo>
                <a:cubicBezTo>
                  <a:pt x="90504" y="105"/>
                  <a:pt x="86639" y="-2104"/>
                  <a:pt x="82511" y="-2025"/>
                </a:cubicBezTo>
                <a:cubicBezTo>
                  <a:pt x="74990" y="-1841"/>
                  <a:pt x="71020" y="-2919"/>
                  <a:pt x="64604" y="-6836"/>
                </a:cubicBezTo>
                <a:close/>
                <a:moveTo>
                  <a:pt x="58899" y="25242"/>
                </a:moveTo>
                <a:cubicBezTo>
                  <a:pt x="72830" y="25242"/>
                  <a:pt x="84141" y="36553"/>
                  <a:pt x="84141" y="50484"/>
                </a:cubicBezTo>
                <a:cubicBezTo>
                  <a:pt x="84141" y="64416"/>
                  <a:pt x="72830" y="75727"/>
                  <a:pt x="58899" y="75727"/>
                </a:cubicBezTo>
                <a:cubicBezTo>
                  <a:pt x="44967" y="75727"/>
                  <a:pt x="33656" y="64416"/>
                  <a:pt x="33656" y="50484"/>
                </a:cubicBezTo>
                <a:cubicBezTo>
                  <a:pt x="33656" y="36553"/>
                  <a:pt x="44967" y="25242"/>
                  <a:pt x="58899" y="25242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48" name="Text 46"/>
          <p:cNvSpPr/>
          <p:nvPr/>
        </p:nvSpPr>
        <p:spPr>
          <a:xfrm>
            <a:off x="6644915" y="5804229"/>
            <a:ext cx="507116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学习产出：</a:t>
            </a:r>
            <a:r>
              <a:rPr lang="zh-CN" alt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企业家打造</a:t>
            </a:r>
            <a:r>
              <a:rPr lang="en-US" sz="1060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个性化合规传承方案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8946" y="6368390"/>
            <a:ext cx="11502046" cy="572157"/>
          </a:xfrm>
          <a:custGeom>
            <a:avLst/>
            <a:gdLst/>
            <a:ahLst/>
            <a:cxnLst/>
            <a:rect l="l" t="t" r="r" b="b"/>
            <a:pathLst>
              <a:path w="11502046" h="572157">
                <a:moveTo>
                  <a:pt x="0" y="0"/>
                </a:moveTo>
                <a:lnTo>
                  <a:pt x="11502046" y="0"/>
                </a:lnTo>
                <a:lnTo>
                  <a:pt x="11502046" y="572157"/>
                </a:lnTo>
                <a:lnTo>
                  <a:pt x="0" y="57215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0" name="Shape 48"/>
          <p:cNvSpPr/>
          <p:nvPr/>
        </p:nvSpPr>
        <p:spPr>
          <a:xfrm>
            <a:off x="348946" y="6358230"/>
            <a:ext cx="33656" cy="572157"/>
          </a:xfrm>
          <a:custGeom>
            <a:avLst/>
            <a:gdLst/>
            <a:ahLst/>
            <a:cxnLst/>
            <a:rect l="l" t="t" r="r" b="b"/>
            <a:pathLst>
              <a:path w="33656" h="572157">
                <a:moveTo>
                  <a:pt x="0" y="0"/>
                </a:moveTo>
                <a:lnTo>
                  <a:pt x="33656" y="0"/>
                </a:lnTo>
                <a:lnTo>
                  <a:pt x="33656" y="572157"/>
                </a:lnTo>
                <a:lnTo>
                  <a:pt x="0" y="57215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51" name="Shape 49"/>
          <p:cNvSpPr/>
          <p:nvPr/>
        </p:nvSpPr>
        <p:spPr>
          <a:xfrm>
            <a:off x="559298" y="6553500"/>
            <a:ext cx="201938" cy="201938"/>
          </a:xfrm>
          <a:custGeom>
            <a:avLst/>
            <a:gdLst/>
            <a:ahLst/>
            <a:cxnLst/>
            <a:rect l="l" t="t" r="r" b="b"/>
            <a:pathLst>
              <a:path w="201938" h="201938">
                <a:moveTo>
                  <a:pt x="189356" y="75727"/>
                </a:moveTo>
                <a:lnTo>
                  <a:pt x="192472" y="75727"/>
                </a:lnTo>
                <a:cubicBezTo>
                  <a:pt x="197718" y="75727"/>
                  <a:pt x="201938" y="71507"/>
                  <a:pt x="201938" y="66261"/>
                </a:cubicBezTo>
                <a:lnTo>
                  <a:pt x="201938" y="9466"/>
                </a:lnTo>
                <a:cubicBezTo>
                  <a:pt x="201938" y="5640"/>
                  <a:pt x="199650" y="2169"/>
                  <a:pt x="196101" y="710"/>
                </a:cubicBezTo>
                <a:cubicBezTo>
                  <a:pt x="192551" y="-749"/>
                  <a:pt x="188489" y="79"/>
                  <a:pt x="185767" y="2761"/>
                </a:cubicBezTo>
                <a:lnTo>
                  <a:pt x="165376" y="23191"/>
                </a:lnTo>
                <a:cubicBezTo>
                  <a:pt x="147904" y="8716"/>
                  <a:pt x="125422" y="0"/>
                  <a:pt x="100969" y="0"/>
                </a:cubicBezTo>
                <a:cubicBezTo>
                  <a:pt x="50090" y="0"/>
                  <a:pt x="8007" y="37627"/>
                  <a:pt x="1025" y="86573"/>
                </a:cubicBezTo>
                <a:cubicBezTo>
                  <a:pt x="39" y="93475"/>
                  <a:pt x="4812" y="99865"/>
                  <a:pt x="11714" y="100851"/>
                </a:cubicBezTo>
                <a:cubicBezTo>
                  <a:pt x="18616" y="101837"/>
                  <a:pt x="25006" y="97025"/>
                  <a:pt x="25992" y="90162"/>
                </a:cubicBezTo>
                <a:cubicBezTo>
                  <a:pt x="31237" y="53443"/>
                  <a:pt x="62830" y="25242"/>
                  <a:pt x="100969" y="25242"/>
                </a:cubicBezTo>
                <a:cubicBezTo>
                  <a:pt x="118481" y="25242"/>
                  <a:pt x="134573" y="31158"/>
                  <a:pt x="147391" y="41137"/>
                </a:cubicBezTo>
                <a:lnTo>
                  <a:pt x="128972" y="59556"/>
                </a:lnTo>
                <a:cubicBezTo>
                  <a:pt x="126251" y="62277"/>
                  <a:pt x="125462" y="66340"/>
                  <a:pt x="126921" y="69889"/>
                </a:cubicBezTo>
                <a:cubicBezTo>
                  <a:pt x="128380" y="73439"/>
                  <a:pt x="131851" y="75727"/>
                  <a:pt x="135677" y="75727"/>
                </a:cubicBezTo>
                <a:lnTo>
                  <a:pt x="189356" y="75727"/>
                </a:lnTo>
                <a:close/>
                <a:moveTo>
                  <a:pt x="200952" y="115365"/>
                </a:moveTo>
                <a:cubicBezTo>
                  <a:pt x="201938" y="108463"/>
                  <a:pt x="197126" y="102073"/>
                  <a:pt x="190263" y="101087"/>
                </a:cubicBezTo>
                <a:cubicBezTo>
                  <a:pt x="183401" y="100101"/>
                  <a:pt x="176972" y="104913"/>
                  <a:pt x="175986" y="111776"/>
                </a:cubicBezTo>
                <a:cubicBezTo>
                  <a:pt x="170740" y="148456"/>
                  <a:pt x="139148" y="176656"/>
                  <a:pt x="101008" y="176656"/>
                </a:cubicBezTo>
                <a:cubicBezTo>
                  <a:pt x="83497" y="176656"/>
                  <a:pt x="67405" y="170740"/>
                  <a:pt x="54586" y="160761"/>
                </a:cubicBezTo>
                <a:lnTo>
                  <a:pt x="72966" y="142382"/>
                </a:lnTo>
                <a:cubicBezTo>
                  <a:pt x="75687" y="139661"/>
                  <a:pt x="76476" y="135598"/>
                  <a:pt x="75017" y="132048"/>
                </a:cubicBezTo>
                <a:cubicBezTo>
                  <a:pt x="73557" y="128499"/>
                  <a:pt x="70087" y="126211"/>
                  <a:pt x="66261" y="126211"/>
                </a:cubicBezTo>
                <a:lnTo>
                  <a:pt x="9466" y="126211"/>
                </a:lnTo>
                <a:cubicBezTo>
                  <a:pt x="4220" y="126211"/>
                  <a:pt x="0" y="130431"/>
                  <a:pt x="0" y="135677"/>
                </a:cubicBezTo>
                <a:lnTo>
                  <a:pt x="0" y="192472"/>
                </a:lnTo>
                <a:cubicBezTo>
                  <a:pt x="0" y="196298"/>
                  <a:pt x="2288" y="199769"/>
                  <a:pt x="5837" y="201228"/>
                </a:cubicBezTo>
                <a:cubicBezTo>
                  <a:pt x="9387" y="202687"/>
                  <a:pt x="13449" y="201859"/>
                  <a:pt x="16171" y="199177"/>
                </a:cubicBezTo>
                <a:lnTo>
                  <a:pt x="36601" y="178747"/>
                </a:lnTo>
                <a:cubicBezTo>
                  <a:pt x="54034" y="193221"/>
                  <a:pt x="76516" y="201938"/>
                  <a:pt x="100969" y="201938"/>
                </a:cubicBezTo>
                <a:cubicBezTo>
                  <a:pt x="151848" y="201938"/>
                  <a:pt x="193931" y="164311"/>
                  <a:pt x="200912" y="115365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52" name="Text 50"/>
          <p:cNvSpPr/>
          <p:nvPr/>
        </p:nvSpPr>
        <p:spPr>
          <a:xfrm>
            <a:off x="887447" y="6536672"/>
            <a:ext cx="3971445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完整闭环：数据驱动 → 人才保障 → 资本助力 → 合规传承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511153" y="6794800"/>
            <a:ext cx="2246559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九大模块 · 全链路覆盖 · 系统化赋能</a:t>
            </a:r>
            <a:endParaRPr lang="en-US" sz="1600" dirty="0"/>
          </a:p>
        </p:txBody>
      </p:sp>
      <p:sp>
        <p:nvSpPr>
          <p:cNvPr id="54" name="Text 10"/>
          <p:cNvSpPr/>
          <p:nvPr/>
        </p:nvSpPr>
        <p:spPr>
          <a:xfrm>
            <a:off x="572157" y="2734736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实战工具：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团队从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Tesla</a:t>
            </a: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万亿美金薪酬对赌案例来解读数据飞轮的企业价值。</a:t>
            </a:r>
            <a:endParaRPr lang="en-US" sz="106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5" name="Text 5"/>
          <p:cNvSpPr/>
          <p:nvPr/>
        </p:nvSpPr>
        <p:spPr>
          <a:xfrm>
            <a:off x="3789680" y="1422400"/>
            <a:ext cx="233616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夏粉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京东</a:t>
            </a:r>
            <a:r>
              <a:rPr lang="en-US" altLang="zh-CN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科学家、中科院博士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6" name="Text 5"/>
          <p:cNvSpPr/>
          <p:nvPr/>
        </p:nvSpPr>
        <p:spPr>
          <a:xfrm>
            <a:off x="3519805" y="4058285"/>
            <a:ext cx="2336165" cy="836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夏粉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京东</a:t>
            </a:r>
            <a:r>
              <a:rPr lang="en-US" altLang="zh-CN" sz="1200" dirty="0">
                <a:solidFill>
                  <a:schemeClr val="bg1"/>
                </a:solidFill>
              </a:rPr>
              <a:t>AI</a:t>
            </a:r>
            <a:r>
              <a:rPr lang="zh-CN" altLang="en-US" sz="1200" dirty="0">
                <a:solidFill>
                  <a:schemeClr val="bg1"/>
                </a:solidFill>
              </a:rPr>
              <a:t>科学家、中科院博士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Tim Lee  </a:t>
            </a:r>
            <a:r>
              <a:rPr lang="zh-CN" altLang="en-US" sz="1200" dirty="0">
                <a:solidFill>
                  <a:schemeClr val="bg1"/>
                </a:solidFill>
              </a:rPr>
              <a:t>硅谷</a:t>
            </a:r>
            <a:r>
              <a:rPr lang="en-US" altLang="zh-CN" sz="1200" dirty="0">
                <a:solidFill>
                  <a:schemeClr val="bg1"/>
                </a:solidFill>
              </a:rPr>
              <a:t>HireIO </a:t>
            </a:r>
            <a:r>
              <a:rPr lang="zh-CN" altLang="en-US" sz="1200" dirty="0">
                <a:solidFill>
                  <a:schemeClr val="bg1"/>
                </a:solidFill>
              </a:rPr>
              <a:t>创始人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7" name="Text 10"/>
          <p:cNvSpPr/>
          <p:nvPr/>
        </p:nvSpPr>
        <p:spPr>
          <a:xfrm>
            <a:off x="597535" y="5334635"/>
            <a:ext cx="3226435" cy="2362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实战案例：</a:t>
            </a:r>
            <a:r>
              <a:rPr lang="en-US" altLang="zh-CN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行业导师机制与人才培养体系</a:t>
            </a:r>
            <a:endParaRPr lang="zh-CN" altLang="en-US" sz="106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58" name="Text 5"/>
          <p:cNvSpPr/>
          <p:nvPr/>
        </p:nvSpPr>
        <p:spPr>
          <a:xfrm>
            <a:off x="9587865" y="1595755"/>
            <a:ext cx="2336165" cy="836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洪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淼</a:t>
            </a:r>
            <a:r>
              <a:rPr lang="en-US" altLang="zh-CN" sz="1200" dirty="0">
                <a:solidFill>
                  <a:schemeClr val="bg1"/>
                </a:solidFill>
              </a:rPr>
              <a:t>       </a:t>
            </a:r>
            <a:r>
              <a:rPr lang="zh-CN" altLang="en-US" sz="1200" dirty="0">
                <a:solidFill>
                  <a:schemeClr val="bg1"/>
                </a:solidFill>
              </a:rPr>
              <a:t>硅谷未来资本创始人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徐霄羽</a:t>
            </a:r>
            <a:r>
              <a:rPr lang="en-US" altLang="zh-CN" sz="1200" dirty="0">
                <a:solidFill>
                  <a:schemeClr val="bg1"/>
                </a:solidFill>
              </a:rPr>
              <a:t>      </a:t>
            </a:r>
            <a:r>
              <a:rPr lang="zh-CN" altLang="en-US" sz="1200" dirty="0">
                <a:solidFill>
                  <a:schemeClr val="bg1"/>
                </a:solidFill>
              </a:rPr>
              <a:t>硅谷</a:t>
            </a:r>
            <a:r>
              <a:rPr lang="en-US" altLang="zh-CN" sz="1200" dirty="0">
                <a:solidFill>
                  <a:schemeClr val="bg1"/>
                </a:solidFill>
              </a:rPr>
              <a:t>Amino</a:t>
            </a:r>
            <a:r>
              <a:rPr lang="zh-CN" altLang="en-US" sz="1200" dirty="0">
                <a:solidFill>
                  <a:schemeClr val="bg1"/>
                </a:solidFill>
              </a:rPr>
              <a:t>资本创始人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9" name="Text 10"/>
          <p:cNvSpPr/>
          <p:nvPr/>
        </p:nvSpPr>
        <p:spPr>
          <a:xfrm>
            <a:off x="6473847" y="2734736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实战案例：通过几个</a:t>
            </a:r>
            <a:r>
              <a:rPr lang="en-US" altLang="zh-CN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项目融资案例来分析企业</a:t>
            </a:r>
            <a:r>
              <a:rPr lang="en-US" altLang="zh-CN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AI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战略优先的重要性</a:t>
            </a:r>
            <a:endParaRPr lang="zh-CN" altLang="en-US" sz="106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6431937" y="5334426"/>
            <a:ext cx="5284041" cy="201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•实战工具：</a:t>
            </a:r>
            <a:r>
              <a:rPr lang="en-US" altLang="zh-CN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Global AI</a:t>
            </a:r>
            <a:r>
              <a:rPr lang="zh-CN" altLang="en-US" sz="106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打造的企业合规监测系统与风险预警机制产品解读和应用分析。</a:t>
            </a:r>
            <a:endParaRPr lang="zh-CN" altLang="en-US" sz="106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421495" y="4058285"/>
            <a:ext cx="2336165" cy="836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导师：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胡益华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知名律师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1571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b="1" kern="0" spc="355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713861"/>
            <a:ext cx="11609639" cy="3757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课程特色：三维赋能体系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5716" y="1239864"/>
            <a:ext cx="1052006" cy="56357"/>
          </a:xfrm>
          <a:custGeom>
            <a:avLst/>
            <a:gdLst/>
            <a:ahLst/>
            <a:cxnLst/>
            <a:rect l="l" t="t" r="r" b="b"/>
            <a:pathLst>
              <a:path w="1052006" h="56357">
                <a:moveTo>
                  <a:pt x="0" y="0"/>
                </a:moveTo>
                <a:lnTo>
                  <a:pt x="1052006" y="0"/>
                </a:lnTo>
                <a:lnTo>
                  <a:pt x="1052006" y="56357"/>
                </a:lnTo>
                <a:lnTo>
                  <a:pt x="0" y="5635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375716" y="1596795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0" y="0"/>
                </a:moveTo>
                <a:lnTo>
                  <a:pt x="601146" y="0"/>
                </a:lnTo>
                <a:lnTo>
                  <a:pt x="601146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Shape 4"/>
          <p:cNvSpPr/>
          <p:nvPr/>
        </p:nvSpPr>
        <p:spPr>
          <a:xfrm>
            <a:off x="520133" y="1756475"/>
            <a:ext cx="317011" cy="281787"/>
          </a:xfrm>
          <a:custGeom>
            <a:avLst/>
            <a:gdLst/>
            <a:ahLst/>
            <a:cxnLst/>
            <a:rect l="l" t="t" r="r" b="b"/>
            <a:pathLst>
              <a:path w="317011" h="281787">
                <a:moveTo>
                  <a:pt x="136491" y="48432"/>
                </a:moveTo>
                <a:lnTo>
                  <a:pt x="180520" y="48432"/>
                </a:lnTo>
                <a:lnTo>
                  <a:pt x="180520" y="74850"/>
                </a:lnTo>
                <a:lnTo>
                  <a:pt x="136491" y="74850"/>
                </a:lnTo>
                <a:lnTo>
                  <a:pt x="136491" y="48432"/>
                </a:lnTo>
                <a:close/>
                <a:moveTo>
                  <a:pt x="132088" y="17612"/>
                </a:moveTo>
                <a:cubicBezTo>
                  <a:pt x="117503" y="17612"/>
                  <a:pt x="105670" y="29445"/>
                  <a:pt x="105670" y="44029"/>
                </a:cubicBezTo>
                <a:lnTo>
                  <a:pt x="105670" y="79253"/>
                </a:lnTo>
                <a:cubicBezTo>
                  <a:pt x="105670" y="93837"/>
                  <a:pt x="117503" y="105670"/>
                  <a:pt x="132088" y="105670"/>
                </a:cubicBezTo>
                <a:lnTo>
                  <a:pt x="140894" y="105670"/>
                </a:lnTo>
                <a:lnTo>
                  <a:pt x="140894" y="123282"/>
                </a:lnTo>
                <a:lnTo>
                  <a:pt x="17612" y="123282"/>
                </a:lnTo>
                <a:cubicBezTo>
                  <a:pt x="7870" y="123282"/>
                  <a:pt x="0" y="131152"/>
                  <a:pt x="0" y="140894"/>
                </a:cubicBezTo>
                <a:cubicBezTo>
                  <a:pt x="0" y="150635"/>
                  <a:pt x="7870" y="158505"/>
                  <a:pt x="17612" y="158505"/>
                </a:cubicBezTo>
                <a:lnTo>
                  <a:pt x="70447" y="158505"/>
                </a:lnTo>
                <a:lnTo>
                  <a:pt x="70447" y="176117"/>
                </a:lnTo>
                <a:lnTo>
                  <a:pt x="61641" y="176117"/>
                </a:lnTo>
                <a:cubicBezTo>
                  <a:pt x="47056" y="176117"/>
                  <a:pt x="35223" y="187950"/>
                  <a:pt x="35223" y="202535"/>
                </a:cubicBezTo>
                <a:lnTo>
                  <a:pt x="35223" y="237758"/>
                </a:lnTo>
                <a:cubicBezTo>
                  <a:pt x="35223" y="252343"/>
                  <a:pt x="47056" y="264176"/>
                  <a:pt x="61641" y="264176"/>
                </a:cubicBezTo>
                <a:lnTo>
                  <a:pt x="114476" y="264176"/>
                </a:lnTo>
                <a:cubicBezTo>
                  <a:pt x="129061" y="264176"/>
                  <a:pt x="140894" y="252343"/>
                  <a:pt x="140894" y="237758"/>
                </a:cubicBezTo>
                <a:lnTo>
                  <a:pt x="140894" y="202535"/>
                </a:lnTo>
                <a:cubicBezTo>
                  <a:pt x="140894" y="187950"/>
                  <a:pt x="129061" y="176117"/>
                  <a:pt x="114476" y="176117"/>
                </a:cubicBezTo>
                <a:lnTo>
                  <a:pt x="105670" y="176117"/>
                </a:lnTo>
                <a:lnTo>
                  <a:pt x="105670" y="158505"/>
                </a:lnTo>
                <a:lnTo>
                  <a:pt x="211341" y="158505"/>
                </a:lnTo>
                <a:lnTo>
                  <a:pt x="211341" y="176117"/>
                </a:lnTo>
                <a:lnTo>
                  <a:pt x="202535" y="176117"/>
                </a:lnTo>
                <a:cubicBezTo>
                  <a:pt x="187950" y="176117"/>
                  <a:pt x="176117" y="187950"/>
                  <a:pt x="176117" y="202535"/>
                </a:cubicBezTo>
                <a:lnTo>
                  <a:pt x="176117" y="237758"/>
                </a:lnTo>
                <a:cubicBezTo>
                  <a:pt x="176117" y="252343"/>
                  <a:pt x="187950" y="264176"/>
                  <a:pt x="202535" y="264176"/>
                </a:cubicBezTo>
                <a:lnTo>
                  <a:pt x="255370" y="264176"/>
                </a:lnTo>
                <a:cubicBezTo>
                  <a:pt x="269954" y="264176"/>
                  <a:pt x="281787" y="252343"/>
                  <a:pt x="281787" y="237758"/>
                </a:cubicBezTo>
                <a:lnTo>
                  <a:pt x="281787" y="202535"/>
                </a:lnTo>
                <a:cubicBezTo>
                  <a:pt x="281787" y="187950"/>
                  <a:pt x="269954" y="176117"/>
                  <a:pt x="255370" y="176117"/>
                </a:cubicBezTo>
                <a:lnTo>
                  <a:pt x="246564" y="176117"/>
                </a:lnTo>
                <a:lnTo>
                  <a:pt x="246564" y="158505"/>
                </a:lnTo>
                <a:lnTo>
                  <a:pt x="299399" y="158505"/>
                </a:lnTo>
                <a:cubicBezTo>
                  <a:pt x="309141" y="158505"/>
                  <a:pt x="317011" y="150635"/>
                  <a:pt x="317011" y="140894"/>
                </a:cubicBezTo>
                <a:cubicBezTo>
                  <a:pt x="317011" y="131152"/>
                  <a:pt x="309141" y="123282"/>
                  <a:pt x="299399" y="123282"/>
                </a:cubicBezTo>
                <a:lnTo>
                  <a:pt x="176117" y="123282"/>
                </a:lnTo>
                <a:lnTo>
                  <a:pt x="176117" y="105670"/>
                </a:lnTo>
                <a:lnTo>
                  <a:pt x="184923" y="105670"/>
                </a:lnTo>
                <a:cubicBezTo>
                  <a:pt x="199508" y="105670"/>
                  <a:pt x="211341" y="93837"/>
                  <a:pt x="211341" y="79253"/>
                </a:cubicBezTo>
                <a:lnTo>
                  <a:pt x="211341" y="44029"/>
                </a:lnTo>
                <a:cubicBezTo>
                  <a:pt x="211341" y="29445"/>
                  <a:pt x="199508" y="17612"/>
                  <a:pt x="184923" y="17612"/>
                </a:cubicBezTo>
                <a:lnTo>
                  <a:pt x="132088" y="17612"/>
                </a:lnTo>
                <a:close/>
                <a:moveTo>
                  <a:pt x="246564" y="206938"/>
                </a:moveTo>
                <a:lnTo>
                  <a:pt x="250967" y="206938"/>
                </a:lnTo>
                <a:lnTo>
                  <a:pt x="250967" y="233355"/>
                </a:lnTo>
                <a:lnTo>
                  <a:pt x="206938" y="233355"/>
                </a:lnTo>
                <a:lnTo>
                  <a:pt x="206938" y="206938"/>
                </a:lnTo>
                <a:lnTo>
                  <a:pt x="246564" y="206938"/>
                </a:lnTo>
                <a:close/>
                <a:moveTo>
                  <a:pt x="105670" y="206938"/>
                </a:moveTo>
                <a:lnTo>
                  <a:pt x="110073" y="206938"/>
                </a:lnTo>
                <a:lnTo>
                  <a:pt x="110073" y="233355"/>
                </a:lnTo>
                <a:lnTo>
                  <a:pt x="66044" y="233355"/>
                </a:lnTo>
                <a:lnTo>
                  <a:pt x="66044" y="206938"/>
                </a:lnTo>
                <a:lnTo>
                  <a:pt x="105670" y="20693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7" name="Text 5"/>
          <p:cNvSpPr/>
          <p:nvPr/>
        </p:nvSpPr>
        <p:spPr>
          <a:xfrm>
            <a:off x="1127149" y="1615581"/>
            <a:ext cx="1653153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FEATURE 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7149" y="1878582"/>
            <a:ext cx="1690724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生态化学习平台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5716" y="2773257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对接Global AI全球项目和应用资源库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5716" y="3193638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融入浙江大学产学研生态体系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810" y="3774440"/>
            <a:ext cx="3362960" cy="450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实时参与AI产业最新实践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3600" y="1596795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0" y="0"/>
                </a:moveTo>
                <a:lnTo>
                  <a:pt x="601146" y="0"/>
                </a:lnTo>
                <a:lnTo>
                  <a:pt x="601146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6" name="Shape 14"/>
          <p:cNvSpPr/>
          <p:nvPr/>
        </p:nvSpPr>
        <p:spPr>
          <a:xfrm>
            <a:off x="4408016" y="1756475"/>
            <a:ext cx="317011" cy="281787"/>
          </a:xfrm>
          <a:custGeom>
            <a:avLst/>
            <a:gdLst/>
            <a:ahLst/>
            <a:cxnLst/>
            <a:rect l="l" t="t" r="r" b="b"/>
            <a:pathLst>
              <a:path w="317011" h="281787">
                <a:moveTo>
                  <a:pt x="147993" y="29279"/>
                </a:moveTo>
                <a:lnTo>
                  <a:pt x="83821" y="100607"/>
                </a:lnTo>
                <a:cubicBezTo>
                  <a:pt x="81289" y="103414"/>
                  <a:pt x="81399" y="107762"/>
                  <a:pt x="84096" y="110458"/>
                </a:cubicBezTo>
                <a:cubicBezTo>
                  <a:pt x="100882" y="127245"/>
                  <a:pt x="128125" y="127245"/>
                  <a:pt x="144911" y="110458"/>
                </a:cubicBezTo>
                <a:lnTo>
                  <a:pt x="162413" y="92957"/>
                </a:lnTo>
                <a:cubicBezTo>
                  <a:pt x="164725" y="90645"/>
                  <a:pt x="167641" y="89379"/>
                  <a:pt x="170613" y="89159"/>
                </a:cubicBezTo>
                <a:cubicBezTo>
                  <a:pt x="174356" y="88829"/>
                  <a:pt x="178208" y="90095"/>
                  <a:pt x="181070" y="92957"/>
                </a:cubicBezTo>
                <a:lnTo>
                  <a:pt x="278265" y="189326"/>
                </a:lnTo>
                <a:lnTo>
                  <a:pt x="317011" y="158505"/>
                </a:lnTo>
                <a:lnTo>
                  <a:pt x="317011" y="0"/>
                </a:lnTo>
                <a:lnTo>
                  <a:pt x="255370" y="35223"/>
                </a:lnTo>
                <a:lnTo>
                  <a:pt x="242271" y="26473"/>
                </a:lnTo>
                <a:cubicBezTo>
                  <a:pt x="233575" y="20694"/>
                  <a:pt x="223394" y="17612"/>
                  <a:pt x="212937" y="17612"/>
                </a:cubicBezTo>
                <a:lnTo>
                  <a:pt x="174191" y="17612"/>
                </a:lnTo>
                <a:cubicBezTo>
                  <a:pt x="173585" y="17612"/>
                  <a:pt x="172925" y="17612"/>
                  <a:pt x="172320" y="17667"/>
                </a:cubicBezTo>
                <a:cubicBezTo>
                  <a:pt x="163018" y="18162"/>
                  <a:pt x="154268" y="22345"/>
                  <a:pt x="147993" y="29279"/>
                </a:cubicBezTo>
                <a:close/>
                <a:moveTo>
                  <a:pt x="64173" y="82940"/>
                </a:moveTo>
                <a:lnTo>
                  <a:pt x="122952" y="17612"/>
                </a:lnTo>
                <a:lnTo>
                  <a:pt x="101157" y="17612"/>
                </a:lnTo>
                <a:cubicBezTo>
                  <a:pt x="87123" y="17612"/>
                  <a:pt x="73694" y="23170"/>
                  <a:pt x="63787" y="33077"/>
                </a:cubicBezTo>
                <a:lnTo>
                  <a:pt x="0" y="105670"/>
                </a:lnTo>
                <a:lnTo>
                  <a:pt x="0" y="299399"/>
                </a:lnTo>
                <a:lnTo>
                  <a:pt x="79253" y="224549"/>
                </a:lnTo>
                <a:lnTo>
                  <a:pt x="86077" y="230218"/>
                </a:lnTo>
                <a:cubicBezTo>
                  <a:pt x="98736" y="240785"/>
                  <a:pt x="114696" y="246564"/>
                  <a:pt x="131152" y="246564"/>
                </a:cubicBezTo>
                <a:lnTo>
                  <a:pt x="139793" y="246564"/>
                </a:lnTo>
                <a:lnTo>
                  <a:pt x="135940" y="242711"/>
                </a:lnTo>
                <a:cubicBezTo>
                  <a:pt x="130767" y="237538"/>
                  <a:pt x="130767" y="229172"/>
                  <a:pt x="135940" y="224054"/>
                </a:cubicBezTo>
                <a:cubicBezTo>
                  <a:pt x="141114" y="218936"/>
                  <a:pt x="149479" y="218881"/>
                  <a:pt x="154598" y="224054"/>
                </a:cubicBezTo>
                <a:lnTo>
                  <a:pt x="177163" y="246619"/>
                </a:lnTo>
                <a:lnTo>
                  <a:pt x="182116" y="246619"/>
                </a:lnTo>
                <a:cubicBezTo>
                  <a:pt x="192628" y="246619"/>
                  <a:pt x="202920" y="244252"/>
                  <a:pt x="212276" y="239849"/>
                </a:cubicBezTo>
                <a:lnTo>
                  <a:pt x="197581" y="225100"/>
                </a:lnTo>
                <a:cubicBezTo>
                  <a:pt x="192408" y="219926"/>
                  <a:pt x="192408" y="211561"/>
                  <a:pt x="197581" y="206442"/>
                </a:cubicBezTo>
                <a:cubicBezTo>
                  <a:pt x="202755" y="201324"/>
                  <a:pt x="211120" y="201269"/>
                  <a:pt x="216239" y="206442"/>
                </a:cubicBezTo>
                <a:lnTo>
                  <a:pt x="233850" y="224054"/>
                </a:lnTo>
                <a:lnTo>
                  <a:pt x="243482" y="214423"/>
                </a:lnTo>
                <a:cubicBezTo>
                  <a:pt x="248380" y="209524"/>
                  <a:pt x="249811" y="202425"/>
                  <a:pt x="247665" y="196205"/>
                </a:cubicBezTo>
                <a:lnTo>
                  <a:pt x="171769" y="120915"/>
                </a:lnTo>
                <a:lnTo>
                  <a:pt x="163569" y="129116"/>
                </a:lnTo>
                <a:cubicBezTo>
                  <a:pt x="136436" y="156249"/>
                  <a:pt x="92517" y="156249"/>
                  <a:pt x="65383" y="129116"/>
                </a:cubicBezTo>
                <a:cubicBezTo>
                  <a:pt x="52725" y="116457"/>
                  <a:pt x="52230" y="96149"/>
                  <a:pt x="64173" y="82885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17" name="Text 15"/>
          <p:cNvSpPr/>
          <p:nvPr/>
        </p:nvSpPr>
        <p:spPr>
          <a:xfrm>
            <a:off x="5015033" y="1615581"/>
            <a:ext cx="1878582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FEATURE 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15033" y="1878582"/>
            <a:ext cx="1916154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实战导向教学设计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54075" y="2753572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每个模块配套真实案例研讨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63600" y="3258408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学员企业个性化诊断与咨询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64235" y="3763244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实战工作坊与工具演练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51580" y="1596795"/>
            <a:ext cx="601146" cy="601146"/>
          </a:xfrm>
          <a:custGeom>
            <a:avLst/>
            <a:gdLst/>
            <a:ahLst/>
            <a:cxnLst/>
            <a:rect l="l" t="t" r="r" b="b"/>
            <a:pathLst>
              <a:path w="601146" h="601146">
                <a:moveTo>
                  <a:pt x="0" y="0"/>
                </a:moveTo>
                <a:lnTo>
                  <a:pt x="601146" y="0"/>
                </a:lnTo>
                <a:lnTo>
                  <a:pt x="601146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6" name="Shape 24"/>
          <p:cNvSpPr/>
          <p:nvPr/>
        </p:nvSpPr>
        <p:spPr>
          <a:xfrm>
            <a:off x="8278384" y="1756475"/>
            <a:ext cx="352234" cy="281787"/>
          </a:xfrm>
          <a:custGeom>
            <a:avLst/>
            <a:gdLst/>
            <a:ahLst/>
            <a:cxnLst/>
            <a:rect l="l" t="t" r="r" b="b"/>
            <a:pathLst>
              <a:path w="352234" h="281787">
                <a:moveTo>
                  <a:pt x="0" y="140894"/>
                </a:moveTo>
                <a:cubicBezTo>
                  <a:pt x="0" y="92241"/>
                  <a:pt x="39406" y="52835"/>
                  <a:pt x="88059" y="52835"/>
                </a:cubicBezTo>
                <a:cubicBezTo>
                  <a:pt x="115797" y="52835"/>
                  <a:pt x="141884" y="65879"/>
                  <a:pt x="158505" y="88059"/>
                </a:cubicBezTo>
                <a:lnTo>
                  <a:pt x="176117" y="111559"/>
                </a:lnTo>
                <a:lnTo>
                  <a:pt x="193729" y="88059"/>
                </a:lnTo>
                <a:cubicBezTo>
                  <a:pt x="210350" y="65879"/>
                  <a:pt x="236437" y="52835"/>
                  <a:pt x="264176" y="52835"/>
                </a:cubicBezTo>
                <a:cubicBezTo>
                  <a:pt x="312828" y="52835"/>
                  <a:pt x="352234" y="92241"/>
                  <a:pt x="352234" y="140894"/>
                </a:cubicBezTo>
                <a:cubicBezTo>
                  <a:pt x="352234" y="189546"/>
                  <a:pt x="312828" y="228952"/>
                  <a:pt x="264176" y="228952"/>
                </a:cubicBezTo>
                <a:cubicBezTo>
                  <a:pt x="236437" y="228952"/>
                  <a:pt x="210350" y="215909"/>
                  <a:pt x="193729" y="193729"/>
                </a:cubicBezTo>
                <a:lnTo>
                  <a:pt x="176117" y="170228"/>
                </a:lnTo>
                <a:lnTo>
                  <a:pt x="158505" y="193729"/>
                </a:lnTo>
                <a:cubicBezTo>
                  <a:pt x="141884" y="215909"/>
                  <a:pt x="115797" y="228952"/>
                  <a:pt x="88059" y="228952"/>
                </a:cubicBezTo>
                <a:cubicBezTo>
                  <a:pt x="39406" y="228952"/>
                  <a:pt x="0" y="189546"/>
                  <a:pt x="0" y="140894"/>
                </a:cubicBezTo>
                <a:close/>
                <a:moveTo>
                  <a:pt x="154102" y="140894"/>
                </a:moveTo>
                <a:lnTo>
                  <a:pt x="130327" y="109193"/>
                </a:lnTo>
                <a:cubicBezTo>
                  <a:pt x="120365" y="95874"/>
                  <a:pt x="104680" y="88059"/>
                  <a:pt x="88059" y="88059"/>
                </a:cubicBezTo>
                <a:cubicBezTo>
                  <a:pt x="58889" y="88059"/>
                  <a:pt x="35223" y="111724"/>
                  <a:pt x="35223" y="140894"/>
                </a:cubicBezTo>
                <a:cubicBezTo>
                  <a:pt x="35223" y="170063"/>
                  <a:pt x="58889" y="193729"/>
                  <a:pt x="88059" y="193729"/>
                </a:cubicBezTo>
                <a:cubicBezTo>
                  <a:pt x="104680" y="193729"/>
                  <a:pt x="120365" y="185914"/>
                  <a:pt x="130327" y="172595"/>
                </a:cubicBezTo>
                <a:lnTo>
                  <a:pt x="154102" y="140894"/>
                </a:lnTo>
                <a:close/>
                <a:moveTo>
                  <a:pt x="198132" y="140894"/>
                </a:moveTo>
                <a:lnTo>
                  <a:pt x="221908" y="172595"/>
                </a:lnTo>
                <a:cubicBezTo>
                  <a:pt x="231869" y="185914"/>
                  <a:pt x="247555" y="193729"/>
                  <a:pt x="264176" y="193729"/>
                </a:cubicBezTo>
                <a:cubicBezTo>
                  <a:pt x="293345" y="193729"/>
                  <a:pt x="317011" y="170063"/>
                  <a:pt x="317011" y="140894"/>
                </a:cubicBezTo>
                <a:cubicBezTo>
                  <a:pt x="317011" y="111724"/>
                  <a:pt x="293345" y="88059"/>
                  <a:pt x="264176" y="88059"/>
                </a:cubicBezTo>
                <a:cubicBezTo>
                  <a:pt x="247555" y="88059"/>
                  <a:pt x="231869" y="95874"/>
                  <a:pt x="221908" y="109193"/>
                </a:cubicBezTo>
                <a:lnTo>
                  <a:pt x="198132" y="140894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7" name="Text 25"/>
          <p:cNvSpPr/>
          <p:nvPr/>
        </p:nvSpPr>
        <p:spPr>
          <a:xfrm>
            <a:off x="8903013" y="1615581"/>
            <a:ext cx="1427723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FEATURE 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03013" y="1878582"/>
            <a:ext cx="1465294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持续赋能机制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51580" y="2773257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结业后持续的项目跟踪指导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77920" y="3333338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校友网络资源对接，与各行业AI先行者建立连接，拓展商业合作机会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77920" y="4075029"/>
            <a:ext cx="3738379" cy="450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定期更新课程内容与工具，紧跟AI技术发展，保持知识前沿性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4502" y="5126182"/>
            <a:ext cx="11421781" cy="1728296"/>
          </a:xfrm>
          <a:custGeom>
            <a:avLst/>
            <a:gdLst/>
            <a:ahLst/>
            <a:cxnLst/>
            <a:rect l="l" t="t" r="r" b="b"/>
            <a:pathLst>
              <a:path w="11421781" h="1728296">
                <a:moveTo>
                  <a:pt x="0" y="0"/>
                </a:moveTo>
                <a:lnTo>
                  <a:pt x="11421781" y="0"/>
                </a:lnTo>
                <a:lnTo>
                  <a:pt x="11421781" y="1728296"/>
                </a:lnTo>
                <a:lnTo>
                  <a:pt x="0" y="1728296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6" name="Shape 34"/>
          <p:cNvSpPr/>
          <p:nvPr/>
        </p:nvSpPr>
        <p:spPr>
          <a:xfrm>
            <a:off x="394502" y="5126182"/>
            <a:ext cx="37572" cy="1728296"/>
          </a:xfrm>
          <a:custGeom>
            <a:avLst/>
            <a:gdLst/>
            <a:ahLst/>
            <a:cxnLst/>
            <a:rect l="l" t="t" r="r" b="b"/>
            <a:pathLst>
              <a:path w="37572" h="1728296">
                <a:moveTo>
                  <a:pt x="0" y="0"/>
                </a:moveTo>
                <a:lnTo>
                  <a:pt x="37572" y="0"/>
                </a:lnTo>
                <a:lnTo>
                  <a:pt x="37572" y="1728296"/>
                </a:lnTo>
                <a:lnTo>
                  <a:pt x="0" y="172829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7" name="Shape 35"/>
          <p:cNvSpPr/>
          <p:nvPr/>
        </p:nvSpPr>
        <p:spPr>
          <a:xfrm>
            <a:off x="659852" y="5821257"/>
            <a:ext cx="380413" cy="338145"/>
          </a:xfrm>
          <a:custGeom>
            <a:avLst/>
            <a:gdLst/>
            <a:ahLst/>
            <a:cxnLst/>
            <a:rect l="l" t="t" r="r" b="b"/>
            <a:pathLst>
              <a:path w="380413" h="338145">
                <a:moveTo>
                  <a:pt x="204406" y="-12482"/>
                </a:moveTo>
                <a:cubicBezTo>
                  <a:pt x="201698" y="-17766"/>
                  <a:pt x="196216" y="-21134"/>
                  <a:pt x="190273" y="-21134"/>
                </a:cubicBezTo>
                <a:cubicBezTo>
                  <a:pt x="184329" y="-21134"/>
                  <a:pt x="178847" y="-17766"/>
                  <a:pt x="176139" y="-12482"/>
                </a:cubicBezTo>
                <a:lnTo>
                  <a:pt x="127531" y="82753"/>
                </a:lnTo>
                <a:lnTo>
                  <a:pt x="21927" y="99528"/>
                </a:lnTo>
                <a:cubicBezTo>
                  <a:pt x="16049" y="100453"/>
                  <a:pt x="11161" y="104614"/>
                  <a:pt x="9312" y="110293"/>
                </a:cubicBezTo>
                <a:cubicBezTo>
                  <a:pt x="7463" y="115973"/>
                  <a:pt x="8982" y="122181"/>
                  <a:pt x="13143" y="126408"/>
                </a:cubicBezTo>
                <a:lnTo>
                  <a:pt x="88697" y="202028"/>
                </a:lnTo>
                <a:lnTo>
                  <a:pt x="72054" y="307633"/>
                </a:lnTo>
                <a:cubicBezTo>
                  <a:pt x="71129" y="313510"/>
                  <a:pt x="73573" y="319454"/>
                  <a:pt x="78394" y="322955"/>
                </a:cubicBezTo>
                <a:cubicBezTo>
                  <a:pt x="83215" y="326455"/>
                  <a:pt x="89556" y="326983"/>
                  <a:pt x="94905" y="324276"/>
                </a:cubicBezTo>
                <a:lnTo>
                  <a:pt x="190273" y="275799"/>
                </a:lnTo>
                <a:lnTo>
                  <a:pt x="285574" y="324276"/>
                </a:lnTo>
                <a:cubicBezTo>
                  <a:pt x="290857" y="326983"/>
                  <a:pt x="297264" y="326455"/>
                  <a:pt x="302085" y="322955"/>
                </a:cubicBezTo>
                <a:cubicBezTo>
                  <a:pt x="306906" y="319454"/>
                  <a:pt x="309350" y="313577"/>
                  <a:pt x="308425" y="307633"/>
                </a:cubicBezTo>
                <a:lnTo>
                  <a:pt x="291716" y="202028"/>
                </a:lnTo>
                <a:lnTo>
                  <a:pt x="367270" y="126408"/>
                </a:lnTo>
                <a:cubicBezTo>
                  <a:pt x="371497" y="122181"/>
                  <a:pt x="372950" y="115973"/>
                  <a:pt x="371101" y="110293"/>
                </a:cubicBezTo>
                <a:cubicBezTo>
                  <a:pt x="369252" y="104614"/>
                  <a:pt x="364430" y="100453"/>
                  <a:pt x="358486" y="99528"/>
                </a:cubicBezTo>
                <a:lnTo>
                  <a:pt x="252948" y="82753"/>
                </a:lnTo>
                <a:lnTo>
                  <a:pt x="204406" y="-12482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8" name="Text 36"/>
          <p:cNvSpPr/>
          <p:nvPr/>
        </p:nvSpPr>
        <p:spPr>
          <a:xfrm>
            <a:off x="1286829" y="5670971"/>
            <a:ext cx="3522342" cy="3005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86829" y="6046687"/>
            <a:ext cx="3494163" cy="263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从认知到落地 · 从战略到执行 · 从个人到组织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912412" y="5351612"/>
            <a:ext cx="67629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8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生态赋能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12412" y="5614613"/>
            <a:ext cx="67629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8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12412" y="5877615"/>
            <a:ext cx="67629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8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实战落地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12412" y="6140616"/>
            <a:ext cx="67629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8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12412" y="6403618"/>
            <a:ext cx="676290" cy="22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8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持续进化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24960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350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FACULTY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704097"/>
            <a:ext cx="11617605" cy="3705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师资团队：学术+产业双引擎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222906"/>
            <a:ext cx="1037617" cy="55587"/>
          </a:xfrm>
          <a:custGeom>
            <a:avLst/>
            <a:gdLst/>
            <a:ahLst/>
            <a:cxnLst/>
            <a:rect l="l" t="t" r="r" b="b"/>
            <a:pathLst>
              <a:path w="1037617" h="55587">
                <a:moveTo>
                  <a:pt x="0" y="0"/>
                </a:moveTo>
                <a:lnTo>
                  <a:pt x="1037617" y="0"/>
                </a:lnTo>
                <a:lnTo>
                  <a:pt x="1037617" y="55587"/>
                </a:lnTo>
                <a:lnTo>
                  <a:pt x="0" y="555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5" name="Shape 3"/>
          <p:cNvSpPr/>
          <p:nvPr/>
        </p:nvSpPr>
        <p:spPr>
          <a:xfrm>
            <a:off x="370578" y="1593483"/>
            <a:ext cx="5614249" cy="3891064"/>
          </a:xfrm>
          <a:custGeom>
            <a:avLst/>
            <a:gdLst/>
            <a:ahLst/>
            <a:cxnLst/>
            <a:rect l="l" t="t" r="r" b="b"/>
            <a:pathLst>
              <a:path w="5614249" h="3891064">
                <a:moveTo>
                  <a:pt x="0" y="0"/>
                </a:moveTo>
                <a:lnTo>
                  <a:pt x="5614249" y="0"/>
                </a:lnTo>
                <a:lnTo>
                  <a:pt x="5614249" y="3891064"/>
                </a:lnTo>
                <a:lnTo>
                  <a:pt x="0" y="3891064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6" name="Shape 4"/>
          <p:cNvSpPr/>
          <p:nvPr/>
        </p:nvSpPr>
        <p:spPr>
          <a:xfrm>
            <a:off x="370578" y="1593483"/>
            <a:ext cx="5614249" cy="37058"/>
          </a:xfrm>
          <a:custGeom>
            <a:avLst/>
            <a:gdLst/>
            <a:ahLst/>
            <a:cxnLst/>
            <a:rect l="l" t="t" r="r" b="b"/>
            <a:pathLst>
              <a:path w="5614249" h="37058">
                <a:moveTo>
                  <a:pt x="0" y="0"/>
                </a:moveTo>
                <a:lnTo>
                  <a:pt x="5614249" y="0"/>
                </a:lnTo>
                <a:lnTo>
                  <a:pt x="5614249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7" name="Shape 5"/>
          <p:cNvSpPr/>
          <p:nvPr/>
        </p:nvSpPr>
        <p:spPr>
          <a:xfrm>
            <a:off x="667040" y="1908474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0" y="0"/>
                </a:moveTo>
                <a:lnTo>
                  <a:pt x="592924" y="0"/>
                </a:lnTo>
                <a:lnTo>
                  <a:pt x="592924" y="592924"/>
                </a:lnTo>
                <a:lnTo>
                  <a:pt x="0" y="59292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8" name="Shape 6"/>
          <p:cNvSpPr/>
          <p:nvPr/>
        </p:nvSpPr>
        <p:spPr>
          <a:xfrm>
            <a:off x="826851" y="2065970"/>
            <a:ext cx="277933" cy="277933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147598" y="10965"/>
                </a:moveTo>
                <a:cubicBezTo>
                  <a:pt x="142278" y="7925"/>
                  <a:pt x="135710" y="7925"/>
                  <a:pt x="130335" y="10965"/>
                </a:cubicBezTo>
                <a:lnTo>
                  <a:pt x="8740" y="80449"/>
                </a:lnTo>
                <a:cubicBezTo>
                  <a:pt x="1900" y="84357"/>
                  <a:pt x="-1466" y="92391"/>
                  <a:pt x="543" y="99991"/>
                </a:cubicBezTo>
                <a:cubicBezTo>
                  <a:pt x="2551" y="107591"/>
                  <a:pt x="9500" y="112910"/>
                  <a:pt x="17371" y="112910"/>
                </a:cubicBezTo>
                <a:lnTo>
                  <a:pt x="34742" y="112910"/>
                </a:lnTo>
                <a:lnTo>
                  <a:pt x="34742" y="225821"/>
                </a:lnTo>
                <a:lnTo>
                  <a:pt x="34742" y="225821"/>
                </a:lnTo>
                <a:lnTo>
                  <a:pt x="6948" y="246666"/>
                </a:lnTo>
                <a:cubicBezTo>
                  <a:pt x="2551" y="249923"/>
                  <a:pt x="0" y="255080"/>
                  <a:pt x="0" y="260562"/>
                </a:cubicBezTo>
                <a:cubicBezTo>
                  <a:pt x="0" y="270171"/>
                  <a:pt x="7763" y="277933"/>
                  <a:pt x="17371" y="277933"/>
                </a:cubicBezTo>
                <a:lnTo>
                  <a:pt x="260562" y="277933"/>
                </a:lnTo>
                <a:cubicBezTo>
                  <a:pt x="270171" y="277933"/>
                  <a:pt x="277933" y="270171"/>
                  <a:pt x="277933" y="260562"/>
                </a:cubicBezTo>
                <a:cubicBezTo>
                  <a:pt x="277933" y="255080"/>
                  <a:pt x="275382" y="249923"/>
                  <a:pt x="270985" y="246666"/>
                </a:cubicBezTo>
                <a:lnTo>
                  <a:pt x="243191" y="225821"/>
                </a:lnTo>
                <a:lnTo>
                  <a:pt x="243191" y="112910"/>
                </a:lnTo>
                <a:lnTo>
                  <a:pt x="260562" y="112910"/>
                </a:lnTo>
                <a:cubicBezTo>
                  <a:pt x="268433" y="112910"/>
                  <a:pt x="275328" y="107591"/>
                  <a:pt x="277336" y="99991"/>
                </a:cubicBezTo>
                <a:cubicBezTo>
                  <a:pt x="279345" y="92391"/>
                  <a:pt x="275979" y="84357"/>
                  <a:pt x="269139" y="80449"/>
                </a:cubicBezTo>
                <a:lnTo>
                  <a:pt x="147543" y="10965"/>
                </a:lnTo>
                <a:close/>
                <a:moveTo>
                  <a:pt x="217135" y="112910"/>
                </a:moveTo>
                <a:lnTo>
                  <a:pt x="217135" y="225821"/>
                </a:lnTo>
                <a:lnTo>
                  <a:pt x="182394" y="225821"/>
                </a:lnTo>
                <a:lnTo>
                  <a:pt x="182394" y="112910"/>
                </a:lnTo>
                <a:lnTo>
                  <a:pt x="217135" y="112910"/>
                </a:lnTo>
                <a:close/>
                <a:moveTo>
                  <a:pt x="156337" y="112910"/>
                </a:moveTo>
                <a:lnTo>
                  <a:pt x="156337" y="225821"/>
                </a:lnTo>
                <a:lnTo>
                  <a:pt x="121596" y="225821"/>
                </a:lnTo>
                <a:lnTo>
                  <a:pt x="121596" y="112910"/>
                </a:lnTo>
                <a:lnTo>
                  <a:pt x="156337" y="112910"/>
                </a:lnTo>
                <a:close/>
                <a:moveTo>
                  <a:pt x="95540" y="112910"/>
                </a:moveTo>
                <a:lnTo>
                  <a:pt x="95540" y="225821"/>
                </a:lnTo>
                <a:lnTo>
                  <a:pt x="60798" y="225821"/>
                </a:lnTo>
                <a:lnTo>
                  <a:pt x="60798" y="112910"/>
                </a:lnTo>
                <a:lnTo>
                  <a:pt x="95540" y="112910"/>
                </a:lnTo>
                <a:close/>
                <a:moveTo>
                  <a:pt x="138967" y="52112"/>
                </a:moveTo>
                <a:cubicBezTo>
                  <a:pt x="148554" y="52112"/>
                  <a:pt x="156337" y="59896"/>
                  <a:pt x="156337" y="69483"/>
                </a:cubicBezTo>
                <a:cubicBezTo>
                  <a:pt x="156337" y="79070"/>
                  <a:pt x="148554" y="86854"/>
                  <a:pt x="138967" y="86854"/>
                </a:cubicBezTo>
                <a:cubicBezTo>
                  <a:pt x="129379" y="86854"/>
                  <a:pt x="121596" y="79070"/>
                  <a:pt x="121596" y="69483"/>
                </a:cubicBezTo>
                <a:cubicBezTo>
                  <a:pt x="121596" y="59896"/>
                  <a:pt x="129379" y="52112"/>
                  <a:pt x="138967" y="52112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9" name="Text 7"/>
          <p:cNvSpPr/>
          <p:nvPr/>
        </p:nvSpPr>
        <p:spPr>
          <a:xfrm>
            <a:off x="1408195" y="1927003"/>
            <a:ext cx="1343343" cy="3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学术导师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8195" y="2260523"/>
            <a:ext cx="1278492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Academic Faculty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0936" y="2760802"/>
            <a:ext cx="250140" cy="222347"/>
          </a:xfrm>
          <a:custGeom>
            <a:avLst/>
            <a:gdLst/>
            <a:ahLst/>
            <a:cxnLst/>
            <a:rect l="l" t="t" r="r" b="b"/>
            <a:pathLst>
              <a:path w="250140" h="222347">
                <a:moveTo>
                  <a:pt x="20845" y="85030"/>
                </a:moveTo>
                <a:lnTo>
                  <a:pt x="111694" y="122421"/>
                </a:lnTo>
                <a:cubicBezTo>
                  <a:pt x="115950" y="124158"/>
                  <a:pt x="120467" y="125070"/>
                  <a:pt x="125070" y="125070"/>
                </a:cubicBezTo>
                <a:cubicBezTo>
                  <a:pt x="129673" y="125070"/>
                  <a:pt x="134190" y="124158"/>
                  <a:pt x="138445" y="122421"/>
                </a:cubicBezTo>
                <a:lnTo>
                  <a:pt x="243713" y="79081"/>
                </a:lnTo>
                <a:cubicBezTo>
                  <a:pt x="247621" y="77474"/>
                  <a:pt x="250140" y="73696"/>
                  <a:pt x="250140" y="69483"/>
                </a:cubicBezTo>
                <a:cubicBezTo>
                  <a:pt x="250140" y="65271"/>
                  <a:pt x="247621" y="61493"/>
                  <a:pt x="243713" y="59886"/>
                </a:cubicBezTo>
                <a:lnTo>
                  <a:pt x="138445" y="16546"/>
                </a:lnTo>
                <a:cubicBezTo>
                  <a:pt x="134190" y="14809"/>
                  <a:pt x="129673" y="13897"/>
                  <a:pt x="125070" y="13897"/>
                </a:cubicBezTo>
                <a:cubicBezTo>
                  <a:pt x="120467" y="13897"/>
                  <a:pt x="115950" y="14809"/>
                  <a:pt x="111694" y="16546"/>
                </a:cubicBezTo>
                <a:lnTo>
                  <a:pt x="6427" y="59886"/>
                </a:lnTo>
                <a:cubicBezTo>
                  <a:pt x="2519" y="61493"/>
                  <a:pt x="0" y="65271"/>
                  <a:pt x="0" y="69483"/>
                </a:cubicBezTo>
                <a:lnTo>
                  <a:pt x="0" y="198027"/>
                </a:lnTo>
                <a:cubicBezTo>
                  <a:pt x="0" y="203803"/>
                  <a:pt x="4647" y="208450"/>
                  <a:pt x="10422" y="208450"/>
                </a:cubicBezTo>
                <a:cubicBezTo>
                  <a:pt x="16198" y="208450"/>
                  <a:pt x="20845" y="203803"/>
                  <a:pt x="20845" y="198027"/>
                </a:cubicBezTo>
                <a:lnTo>
                  <a:pt x="20845" y="85030"/>
                </a:lnTo>
                <a:close/>
                <a:moveTo>
                  <a:pt x="41690" y="116167"/>
                </a:moveTo>
                <a:lnTo>
                  <a:pt x="41690" y="166760"/>
                </a:lnTo>
                <a:cubicBezTo>
                  <a:pt x="41690" y="189776"/>
                  <a:pt x="79037" y="208450"/>
                  <a:pt x="125070" y="208450"/>
                </a:cubicBezTo>
                <a:cubicBezTo>
                  <a:pt x="171103" y="208450"/>
                  <a:pt x="208450" y="189776"/>
                  <a:pt x="208450" y="166760"/>
                </a:cubicBezTo>
                <a:lnTo>
                  <a:pt x="208450" y="116124"/>
                </a:lnTo>
                <a:lnTo>
                  <a:pt x="146393" y="141702"/>
                </a:lnTo>
                <a:cubicBezTo>
                  <a:pt x="139618" y="144482"/>
                  <a:pt x="132409" y="145915"/>
                  <a:pt x="125070" y="145915"/>
                </a:cubicBezTo>
                <a:cubicBezTo>
                  <a:pt x="117731" y="145915"/>
                  <a:pt x="110522" y="144482"/>
                  <a:pt x="103747" y="141702"/>
                </a:cubicBezTo>
                <a:lnTo>
                  <a:pt x="41690" y="116124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2" name="Text 10"/>
          <p:cNvSpPr/>
          <p:nvPr/>
        </p:nvSpPr>
        <p:spPr>
          <a:xfrm>
            <a:off x="944973" y="2723745"/>
            <a:ext cx="485456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浙江大学教授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040" y="3168438"/>
            <a:ext cx="5104705" cy="815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来自</a:t>
            </a:r>
            <a:r>
              <a:rPr lang="en-US" sz="131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浙江大学计算机学院、管理学院、人工智能研究所</a:t>
            </a: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的资深教授，拥有深厚的学术造诣和丰富的教学经验，为课程提供坚实的理论基础和严谨的学术框架。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833" y="4240796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2112" y="24319"/>
                </a:moveTo>
                <a:cubicBezTo>
                  <a:pt x="52112" y="10900"/>
                  <a:pt x="63013" y="0"/>
                  <a:pt x="76432" y="0"/>
                </a:cubicBezTo>
                <a:lnTo>
                  <a:pt x="86854" y="0"/>
                </a:lnTo>
                <a:cubicBezTo>
                  <a:pt x="94541" y="0"/>
                  <a:pt x="100751" y="6210"/>
                  <a:pt x="100751" y="13897"/>
                </a:cubicBezTo>
                <a:lnTo>
                  <a:pt x="100751" y="208450"/>
                </a:lnTo>
                <a:cubicBezTo>
                  <a:pt x="100751" y="216136"/>
                  <a:pt x="94541" y="222347"/>
                  <a:pt x="86854" y="222347"/>
                </a:cubicBezTo>
                <a:lnTo>
                  <a:pt x="72957" y="222347"/>
                </a:lnTo>
                <a:cubicBezTo>
                  <a:pt x="60016" y="222347"/>
                  <a:pt x="49116" y="213487"/>
                  <a:pt x="46033" y="201502"/>
                </a:cubicBezTo>
                <a:cubicBezTo>
                  <a:pt x="45729" y="201502"/>
                  <a:pt x="45468" y="201502"/>
                  <a:pt x="45164" y="201502"/>
                </a:cubicBezTo>
                <a:cubicBezTo>
                  <a:pt x="25969" y="201502"/>
                  <a:pt x="10422" y="185955"/>
                  <a:pt x="10422" y="166760"/>
                </a:cubicBezTo>
                <a:cubicBezTo>
                  <a:pt x="10422" y="158943"/>
                  <a:pt x="13028" y="151734"/>
                  <a:pt x="17371" y="145915"/>
                </a:cubicBezTo>
                <a:cubicBezTo>
                  <a:pt x="8946" y="139575"/>
                  <a:pt x="3474" y="129499"/>
                  <a:pt x="3474" y="118122"/>
                </a:cubicBezTo>
                <a:cubicBezTo>
                  <a:pt x="3474" y="104703"/>
                  <a:pt x="11117" y="93021"/>
                  <a:pt x="22235" y="87245"/>
                </a:cubicBezTo>
                <a:cubicBezTo>
                  <a:pt x="19151" y="82034"/>
                  <a:pt x="17371" y="75954"/>
                  <a:pt x="17371" y="69483"/>
                </a:cubicBezTo>
                <a:cubicBezTo>
                  <a:pt x="17371" y="50289"/>
                  <a:pt x="32918" y="34742"/>
                  <a:pt x="52112" y="34742"/>
                </a:cubicBezTo>
                <a:lnTo>
                  <a:pt x="52112" y="24319"/>
                </a:lnTo>
                <a:close/>
                <a:moveTo>
                  <a:pt x="170234" y="24319"/>
                </a:moveTo>
                <a:lnTo>
                  <a:pt x="170234" y="34742"/>
                </a:lnTo>
                <a:cubicBezTo>
                  <a:pt x="189429" y="34742"/>
                  <a:pt x="204976" y="50289"/>
                  <a:pt x="204976" y="69483"/>
                </a:cubicBezTo>
                <a:cubicBezTo>
                  <a:pt x="204976" y="75997"/>
                  <a:pt x="203195" y="82077"/>
                  <a:pt x="200112" y="87245"/>
                </a:cubicBezTo>
                <a:cubicBezTo>
                  <a:pt x="211273" y="93021"/>
                  <a:pt x="218872" y="104659"/>
                  <a:pt x="218872" y="118122"/>
                </a:cubicBezTo>
                <a:cubicBezTo>
                  <a:pt x="218872" y="129499"/>
                  <a:pt x="213401" y="139575"/>
                  <a:pt x="204976" y="145915"/>
                </a:cubicBezTo>
                <a:cubicBezTo>
                  <a:pt x="209318" y="151734"/>
                  <a:pt x="211924" y="158943"/>
                  <a:pt x="211924" y="166760"/>
                </a:cubicBezTo>
                <a:cubicBezTo>
                  <a:pt x="211924" y="185955"/>
                  <a:pt x="196377" y="201502"/>
                  <a:pt x="177182" y="201502"/>
                </a:cubicBezTo>
                <a:cubicBezTo>
                  <a:pt x="176878" y="201502"/>
                  <a:pt x="176618" y="201502"/>
                  <a:pt x="176314" y="201502"/>
                </a:cubicBezTo>
                <a:cubicBezTo>
                  <a:pt x="173231" y="213487"/>
                  <a:pt x="162330" y="222347"/>
                  <a:pt x="149389" y="222347"/>
                </a:cubicBezTo>
                <a:lnTo>
                  <a:pt x="135492" y="222347"/>
                </a:lnTo>
                <a:cubicBezTo>
                  <a:pt x="127806" y="222347"/>
                  <a:pt x="121596" y="216136"/>
                  <a:pt x="121596" y="208450"/>
                </a:cubicBezTo>
                <a:lnTo>
                  <a:pt x="121596" y="13897"/>
                </a:lnTo>
                <a:cubicBezTo>
                  <a:pt x="121596" y="6210"/>
                  <a:pt x="127806" y="0"/>
                  <a:pt x="135492" y="0"/>
                </a:cubicBezTo>
                <a:lnTo>
                  <a:pt x="145915" y="0"/>
                </a:lnTo>
                <a:cubicBezTo>
                  <a:pt x="159334" y="0"/>
                  <a:pt x="170234" y="10900"/>
                  <a:pt x="170234" y="24319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15" name="Text 13"/>
          <p:cNvSpPr/>
          <p:nvPr/>
        </p:nvSpPr>
        <p:spPr>
          <a:xfrm>
            <a:off x="944973" y="4203739"/>
            <a:ext cx="485456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AI领域资深研究员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040" y="4648432"/>
            <a:ext cx="5104705" cy="546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来自</a:t>
            </a:r>
            <a:r>
              <a:rPr lang="en-US" sz="131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浙江大学AI交叉学科研究中心</a:t>
            </a: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的顶尖学者，掌握人工智能前沿技术发展脉络，为学员解读AI技术的商业应用趋势和创新方向。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5147" y="1593483"/>
            <a:ext cx="5614249" cy="3891064"/>
          </a:xfrm>
          <a:custGeom>
            <a:avLst/>
            <a:gdLst/>
            <a:ahLst/>
            <a:cxnLst/>
            <a:rect l="l" t="t" r="r" b="b"/>
            <a:pathLst>
              <a:path w="5614249" h="3891064">
                <a:moveTo>
                  <a:pt x="0" y="0"/>
                </a:moveTo>
                <a:lnTo>
                  <a:pt x="5614249" y="0"/>
                </a:lnTo>
                <a:lnTo>
                  <a:pt x="5614249" y="3891064"/>
                </a:lnTo>
                <a:lnTo>
                  <a:pt x="0" y="3891064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18" name="Shape 16"/>
          <p:cNvSpPr/>
          <p:nvPr/>
        </p:nvSpPr>
        <p:spPr>
          <a:xfrm>
            <a:off x="6205147" y="1593483"/>
            <a:ext cx="5614249" cy="37058"/>
          </a:xfrm>
          <a:custGeom>
            <a:avLst/>
            <a:gdLst/>
            <a:ahLst/>
            <a:cxnLst/>
            <a:rect l="l" t="t" r="r" b="b"/>
            <a:pathLst>
              <a:path w="5614249" h="37058">
                <a:moveTo>
                  <a:pt x="0" y="0"/>
                </a:moveTo>
                <a:lnTo>
                  <a:pt x="5614249" y="0"/>
                </a:lnTo>
                <a:lnTo>
                  <a:pt x="5614249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19" name="Shape 17"/>
          <p:cNvSpPr/>
          <p:nvPr/>
        </p:nvSpPr>
        <p:spPr>
          <a:xfrm>
            <a:off x="6501609" y="1908474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0" y="0"/>
                </a:moveTo>
                <a:lnTo>
                  <a:pt x="592924" y="0"/>
                </a:lnTo>
                <a:lnTo>
                  <a:pt x="592924" y="592924"/>
                </a:lnTo>
                <a:lnTo>
                  <a:pt x="0" y="59292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0" name="Shape 18"/>
          <p:cNvSpPr/>
          <p:nvPr/>
        </p:nvSpPr>
        <p:spPr>
          <a:xfrm>
            <a:off x="6661420" y="2065970"/>
            <a:ext cx="277933" cy="277933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17371" y="17371"/>
                </a:moveTo>
                <a:cubicBezTo>
                  <a:pt x="7763" y="17371"/>
                  <a:pt x="0" y="25133"/>
                  <a:pt x="0" y="34742"/>
                </a:cubicBezTo>
                <a:lnTo>
                  <a:pt x="0" y="234506"/>
                </a:lnTo>
                <a:cubicBezTo>
                  <a:pt x="0" y="248891"/>
                  <a:pt x="11671" y="260562"/>
                  <a:pt x="26056" y="260562"/>
                </a:cubicBezTo>
                <a:lnTo>
                  <a:pt x="251877" y="260562"/>
                </a:lnTo>
                <a:cubicBezTo>
                  <a:pt x="266262" y="260562"/>
                  <a:pt x="277933" y="248891"/>
                  <a:pt x="277933" y="234506"/>
                </a:cubicBezTo>
                <a:lnTo>
                  <a:pt x="277933" y="82620"/>
                </a:lnTo>
                <a:cubicBezTo>
                  <a:pt x="277933" y="72740"/>
                  <a:pt x="267402" y="66498"/>
                  <a:pt x="258717" y="71166"/>
                </a:cubicBezTo>
                <a:lnTo>
                  <a:pt x="173708" y="116927"/>
                </a:lnTo>
                <a:lnTo>
                  <a:pt x="173708" y="82620"/>
                </a:lnTo>
                <a:cubicBezTo>
                  <a:pt x="173708" y="72740"/>
                  <a:pt x="163177" y="66498"/>
                  <a:pt x="154492" y="71166"/>
                </a:cubicBezTo>
                <a:lnTo>
                  <a:pt x="69483" y="116927"/>
                </a:lnTo>
                <a:lnTo>
                  <a:pt x="69483" y="34742"/>
                </a:lnTo>
                <a:cubicBezTo>
                  <a:pt x="69483" y="25133"/>
                  <a:pt x="61721" y="17371"/>
                  <a:pt x="52112" y="17371"/>
                </a:cubicBezTo>
                <a:lnTo>
                  <a:pt x="17371" y="17371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1" name="Text 19"/>
          <p:cNvSpPr/>
          <p:nvPr/>
        </p:nvSpPr>
        <p:spPr>
          <a:xfrm>
            <a:off x="7242764" y="1927003"/>
            <a:ext cx="1250699" cy="33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产业导师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42764" y="2260523"/>
            <a:ext cx="1185848" cy="2223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Industry Faculty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29402" y="2760802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55587" y="138967"/>
                </a:moveTo>
                <a:lnTo>
                  <a:pt x="10640" y="138967"/>
                </a:lnTo>
                <a:cubicBezTo>
                  <a:pt x="-174" y="138967"/>
                  <a:pt x="-6818" y="127198"/>
                  <a:pt x="-1259" y="117904"/>
                </a:cubicBezTo>
                <a:lnTo>
                  <a:pt x="21714" y="79602"/>
                </a:lnTo>
                <a:cubicBezTo>
                  <a:pt x="25492" y="73305"/>
                  <a:pt x="32266" y="69483"/>
                  <a:pt x="39605" y="69483"/>
                </a:cubicBezTo>
                <a:lnTo>
                  <a:pt x="80861" y="69483"/>
                </a:lnTo>
                <a:cubicBezTo>
                  <a:pt x="113909" y="13506"/>
                  <a:pt x="163199" y="10683"/>
                  <a:pt x="196160" y="15503"/>
                </a:cubicBezTo>
                <a:cubicBezTo>
                  <a:pt x="201719" y="16329"/>
                  <a:pt x="206061" y="20671"/>
                  <a:pt x="206843" y="26187"/>
                </a:cubicBezTo>
                <a:cubicBezTo>
                  <a:pt x="211663" y="59148"/>
                  <a:pt x="208841" y="108437"/>
                  <a:pt x="152863" y="141485"/>
                </a:cubicBezTo>
                <a:lnTo>
                  <a:pt x="152863" y="182741"/>
                </a:lnTo>
                <a:cubicBezTo>
                  <a:pt x="152863" y="190080"/>
                  <a:pt x="149042" y="196855"/>
                  <a:pt x="142745" y="200633"/>
                </a:cubicBezTo>
                <a:lnTo>
                  <a:pt x="104442" y="223606"/>
                </a:lnTo>
                <a:cubicBezTo>
                  <a:pt x="95192" y="229165"/>
                  <a:pt x="83380" y="222477"/>
                  <a:pt x="83380" y="211707"/>
                </a:cubicBezTo>
                <a:lnTo>
                  <a:pt x="83380" y="166760"/>
                </a:lnTo>
                <a:cubicBezTo>
                  <a:pt x="83380" y="151430"/>
                  <a:pt x="70916" y="138967"/>
                  <a:pt x="55587" y="138967"/>
                </a:cubicBezTo>
                <a:lnTo>
                  <a:pt x="55543" y="138967"/>
                </a:lnTo>
                <a:close/>
                <a:moveTo>
                  <a:pt x="173708" y="69483"/>
                </a:moveTo>
                <a:cubicBezTo>
                  <a:pt x="173708" y="57979"/>
                  <a:pt x="164368" y="48638"/>
                  <a:pt x="152863" y="48638"/>
                </a:cubicBezTo>
                <a:cubicBezTo>
                  <a:pt x="141359" y="48638"/>
                  <a:pt x="132018" y="57979"/>
                  <a:pt x="132018" y="69483"/>
                </a:cubicBezTo>
                <a:cubicBezTo>
                  <a:pt x="132018" y="80988"/>
                  <a:pt x="141359" y="90328"/>
                  <a:pt x="152863" y="90328"/>
                </a:cubicBezTo>
                <a:cubicBezTo>
                  <a:pt x="164368" y="90328"/>
                  <a:pt x="173708" y="80988"/>
                  <a:pt x="173708" y="69483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4" name="Text 22"/>
          <p:cNvSpPr/>
          <p:nvPr/>
        </p:nvSpPr>
        <p:spPr>
          <a:xfrm>
            <a:off x="6779542" y="2723745"/>
            <a:ext cx="485456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Global AI核心团队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1609" y="3168438"/>
            <a:ext cx="5104705" cy="815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来自</a:t>
            </a:r>
            <a:r>
              <a:rPr lang="en-US" sz="131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Global AI创新加速器平台</a:t>
            </a: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的核心团队，拥有丰富的AI项目孵化、投资和管理经验，深度参与硅谷-新加坡-香港-北京等多中心项目运作。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29402" y="4240796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62665" y="0"/>
                </a:moveTo>
                <a:lnTo>
                  <a:pt x="159942" y="0"/>
                </a:lnTo>
                <a:cubicBezTo>
                  <a:pt x="171450" y="0"/>
                  <a:pt x="180830" y="9467"/>
                  <a:pt x="180396" y="20932"/>
                </a:cubicBezTo>
                <a:cubicBezTo>
                  <a:pt x="180309" y="23233"/>
                  <a:pt x="180222" y="25535"/>
                  <a:pt x="180092" y="27793"/>
                </a:cubicBezTo>
                <a:lnTo>
                  <a:pt x="201632" y="27793"/>
                </a:lnTo>
                <a:cubicBezTo>
                  <a:pt x="212966" y="27793"/>
                  <a:pt x="222954" y="37174"/>
                  <a:pt x="222086" y="49420"/>
                </a:cubicBezTo>
                <a:cubicBezTo>
                  <a:pt x="218829" y="94454"/>
                  <a:pt x="195813" y="119207"/>
                  <a:pt x="170842" y="132149"/>
                </a:cubicBezTo>
                <a:cubicBezTo>
                  <a:pt x="163981" y="135710"/>
                  <a:pt x="156989" y="138359"/>
                  <a:pt x="150344" y="140313"/>
                </a:cubicBezTo>
                <a:cubicBezTo>
                  <a:pt x="141572" y="152733"/>
                  <a:pt x="132453" y="159290"/>
                  <a:pt x="125200" y="162808"/>
                </a:cubicBezTo>
                <a:lnTo>
                  <a:pt x="125200" y="194553"/>
                </a:lnTo>
                <a:lnTo>
                  <a:pt x="152994" y="194553"/>
                </a:lnTo>
                <a:cubicBezTo>
                  <a:pt x="160680" y="194553"/>
                  <a:pt x="166890" y="200763"/>
                  <a:pt x="166890" y="208450"/>
                </a:cubicBezTo>
                <a:cubicBezTo>
                  <a:pt x="166890" y="216136"/>
                  <a:pt x="160680" y="222347"/>
                  <a:pt x="152994" y="222347"/>
                </a:cubicBezTo>
                <a:lnTo>
                  <a:pt x="69614" y="222347"/>
                </a:lnTo>
                <a:cubicBezTo>
                  <a:pt x="61927" y="222347"/>
                  <a:pt x="55717" y="216136"/>
                  <a:pt x="55717" y="208450"/>
                </a:cubicBezTo>
                <a:cubicBezTo>
                  <a:pt x="55717" y="200763"/>
                  <a:pt x="61927" y="194553"/>
                  <a:pt x="69614" y="194553"/>
                </a:cubicBezTo>
                <a:lnTo>
                  <a:pt x="97407" y="194553"/>
                </a:lnTo>
                <a:lnTo>
                  <a:pt x="97407" y="162808"/>
                </a:lnTo>
                <a:cubicBezTo>
                  <a:pt x="90459" y="159464"/>
                  <a:pt x="81817" y="153254"/>
                  <a:pt x="73392" y="141833"/>
                </a:cubicBezTo>
                <a:cubicBezTo>
                  <a:pt x="65401" y="139748"/>
                  <a:pt x="56716" y="136578"/>
                  <a:pt x="48247" y="131801"/>
                </a:cubicBezTo>
                <a:cubicBezTo>
                  <a:pt x="24753" y="118643"/>
                  <a:pt x="3561" y="93846"/>
                  <a:pt x="521" y="49333"/>
                </a:cubicBezTo>
                <a:cubicBezTo>
                  <a:pt x="-304" y="37130"/>
                  <a:pt x="9641" y="27750"/>
                  <a:pt x="20975" y="27750"/>
                </a:cubicBezTo>
                <a:lnTo>
                  <a:pt x="42515" y="27750"/>
                </a:lnTo>
                <a:cubicBezTo>
                  <a:pt x="42385" y="25492"/>
                  <a:pt x="42298" y="23233"/>
                  <a:pt x="42211" y="20888"/>
                </a:cubicBezTo>
                <a:cubicBezTo>
                  <a:pt x="41777" y="9380"/>
                  <a:pt x="51157" y="-43"/>
                  <a:pt x="62665" y="-43"/>
                </a:cubicBezTo>
                <a:close/>
                <a:moveTo>
                  <a:pt x="44078" y="48638"/>
                </a:moveTo>
                <a:lnTo>
                  <a:pt x="21323" y="48638"/>
                </a:lnTo>
                <a:cubicBezTo>
                  <a:pt x="24015" y="85421"/>
                  <a:pt x="40908" y="103834"/>
                  <a:pt x="58323" y="113605"/>
                </a:cubicBezTo>
                <a:cubicBezTo>
                  <a:pt x="52069" y="97407"/>
                  <a:pt x="46901" y="76258"/>
                  <a:pt x="44078" y="48638"/>
                </a:cubicBezTo>
                <a:close/>
                <a:moveTo>
                  <a:pt x="165023" y="111521"/>
                </a:moveTo>
                <a:cubicBezTo>
                  <a:pt x="182611" y="101185"/>
                  <a:pt x="198505" y="82815"/>
                  <a:pt x="201198" y="48638"/>
                </a:cubicBezTo>
                <a:lnTo>
                  <a:pt x="178485" y="48638"/>
                </a:lnTo>
                <a:cubicBezTo>
                  <a:pt x="175793" y="75085"/>
                  <a:pt x="170929" y="95626"/>
                  <a:pt x="165023" y="111521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27" name="Text 25"/>
          <p:cNvSpPr/>
          <p:nvPr/>
        </p:nvSpPr>
        <p:spPr>
          <a:xfrm>
            <a:off x="6779542" y="4203739"/>
            <a:ext cx="485456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成功AI企业创始人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1609" y="4648432"/>
            <a:ext cx="5104705" cy="546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来自</a:t>
            </a:r>
            <a:r>
              <a:rPr lang="en-US" sz="131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独角兽AI企业</a:t>
            </a: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的创始人、CEO和技术负责人，分享从0到1、从1到N的创业实战经验，提供可落地的商业洞察和执行方法。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9106" y="5783325"/>
            <a:ext cx="11432316" cy="1074675"/>
          </a:xfrm>
          <a:custGeom>
            <a:avLst/>
            <a:gdLst/>
            <a:ahLst/>
            <a:cxnLst/>
            <a:rect l="l" t="t" r="r" b="b"/>
            <a:pathLst>
              <a:path w="11432316" h="1074675">
                <a:moveTo>
                  <a:pt x="0" y="0"/>
                </a:moveTo>
                <a:lnTo>
                  <a:pt x="11432316" y="0"/>
                </a:lnTo>
                <a:lnTo>
                  <a:pt x="11432316" y="1074675"/>
                </a:lnTo>
                <a:lnTo>
                  <a:pt x="0" y="10746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30" name="Shape 28"/>
          <p:cNvSpPr/>
          <p:nvPr/>
        </p:nvSpPr>
        <p:spPr>
          <a:xfrm>
            <a:off x="389106" y="5783325"/>
            <a:ext cx="37058" cy="1074675"/>
          </a:xfrm>
          <a:custGeom>
            <a:avLst/>
            <a:gdLst/>
            <a:ahLst/>
            <a:cxnLst/>
            <a:rect l="l" t="t" r="r" b="b"/>
            <a:pathLst>
              <a:path w="37058" h="1074675">
                <a:moveTo>
                  <a:pt x="0" y="0"/>
                </a:moveTo>
                <a:lnTo>
                  <a:pt x="37058" y="0"/>
                </a:lnTo>
                <a:lnTo>
                  <a:pt x="37058" y="1074675"/>
                </a:lnTo>
                <a:lnTo>
                  <a:pt x="0" y="10746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31" name="Shape 29"/>
          <p:cNvSpPr/>
          <p:nvPr/>
        </p:nvSpPr>
        <p:spPr>
          <a:xfrm>
            <a:off x="629982" y="6153903"/>
            <a:ext cx="416900" cy="333520"/>
          </a:xfrm>
          <a:custGeom>
            <a:avLst/>
            <a:gdLst/>
            <a:ahLst/>
            <a:cxnLst/>
            <a:rect l="l" t="t" r="r" b="b"/>
            <a:pathLst>
              <a:path w="416900" h="333520">
                <a:moveTo>
                  <a:pt x="270920" y="137121"/>
                </a:moveTo>
                <a:cubicBezTo>
                  <a:pt x="278867" y="134971"/>
                  <a:pt x="287205" y="138749"/>
                  <a:pt x="290788" y="146110"/>
                </a:cubicBezTo>
                <a:lnTo>
                  <a:pt x="302904" y="170603"/>
                </a:lnTo>
                <a:cubicBezTo>
                  <a:pt x="309613" y="171515"/>
                  <a:pt x="316192" y="173339"/>
                  <a:pt x="322381" y="175880"/>
                </a:cubicBezTo>
                <a:lnTo>
                  <a:pt x="345180" y="160702"/>
                </a:lnTo>
                <a:cubicBezTo>
                  <a:pt x="352020" y="156142"/>
                  <a:pt x="361074" y="157054"/>
                  <a:pt x="366872" y="162851"/>
                </a:cubicBezTo>
                <a:lnTo>
                  <a:pt x="379379" y="175358"/>
                </a:lnTo>
                <a:cubicBezTo>
                  <a:pt x="385176" y="181156"/>
                  <a:pt x="386088" y="190276"/>
                  <a:pt x="381528" y="197050"/>
                </a:cubicBezTo>
                <a:lnTo>
                  <a:pt x="366351" y="219784"/>
                </a:lnTo>
                <a:cubicBezTo>
                  <a:pt x="367588" y="222846"/>
                  <a:pt x="368696" y="226038"/>
                  <a:pt x="369608" y="229360"/>
                </a:cubicBezTo>
                <a:cubicBezTo>
                  <a:pt x="370520" y="232682"/>
                  <a:pt x="371106" y="235939"/>
                  <a:pt x="371562" y="239261"/>
                </a:cubicBezTo>
                <a:lnTo>
                  <a:pt x="396120" y="251377"/>
                </a:lnTo>
                <a:cubicBezTo>
                  <a:pt x="403481" y="255025"/>
                  <a:pt x="407259" y="263363"/>
                  <a:pt x="405109" y="271245"/>
                </a:cubicBezTo>
                <a:lnTo>
                  <a:pt x="400549" y="288312"/>
                </a:lnTo>
                <a:cubicBezTo>
                  <a:pt x="398400" y="296194"/>
                  <a:pt x="391039" y="301536"/>
                  <a:pt x="382831" y="301015"/>
                </a:cubicBezTo>
                <a:lnTo>
                  <a:pt x="355472" y="299256"/>
                </a:lnTo>
                <a:cubicBezTo>
                  <a:pt x="351368" y="304532"/>
                  <a:pt x="346613" y="309418"/>
                  <a:pt x="341206" y="313587"/>
                </a:cubicBezTo>
                <a:lnTo>
                  <a:pt x="342965" y="340881"/>
                </a:lnTo>
                <a:cubicBezTo>
                  <a:pt x="343486" y="349088"/>
                  <a:pt x="338145" y="356514"/>
                  <a:pt x="330263" y="358599"/>
                </a:cubicBezTo>
                <a:lnTo>
                  <a:pt x="313196" y="363159"/>
                </a:lnTo>
                <a:cubicBezTo>
                  <a:pt x="305249" y="365308"/>
                  <a:pt x="296976" y="361530"/>
                  <a:pt x="293328" y="354169"/>
                </a:cubicBezTo>
                <a:lnTo>
                  <a:pt x="281212" y="329676"/>
                </a:lnTo>
                <a:cubicBezTo>
                  <a:pt x="274502" y="328764"/>
                  <a:pt x="267923" y="326941"/>
                  <a:pt x="261735" y="324400"/>
                </a:cubicBezTo>
                <a:lnTo>
                  <a:pt x="238936" y="339578"/>
                </a:lnTo>
                <a:cubicBezTo>
                  <a:pt x="232096" y="344138"/>
                  <a:pt x="223041" y="343226"/>
                  <a:pt x="217244" y="337428"/>
                </a:cubicBezTo>
                <a:lnTo>
                  <a:pt x="204737" y="324921"/>
                </a:lnTo>
                <a:cubicBezTo>
                  <a:pt x="198939" y="319124"/>
                  <a:pt x="198027" y="310069"/>
                  <a:pt x="202587" y="303229"/>
                </a:cubicBezTo>
                <a:lnTo>
                  <a:pt x="217765" y="280430"/>
                </a:lnTo>
                <a:cubicBezTo>
                  <a:pt x="216527" y="277369"/>
                  <a:pt x="215420" y="274177"/>
                  <a:pt x="214508" y="270855"/>
                </a:cubicBezTo>
                <a:cubicBezTo>
                  <a:pt x="213596" y="267532"/>
                  <a:pt x="213010" y="264210"/>
                  <a:pt x="212554" y="260953"/>
                </a:cubicBezTo>
                <a:lnTo>
                  <a:pt x="187996" y="248837"/>
                </a:lnTo>
                <a:cubicBezTo>
                  <a:pt x="180635" y="245189"/>
                  <a:pt x="176922" y="236851"/>
                  <a:pt x="179006" y="228969"/>
                </a:cubicBezTo>
                <a:lnTo>
                  <a:pt x="183566" y="211902"/>
                </a:lnTo>
                <a:cubicBezTo>
                  <a:pt x="185716" y="204020"/>
                  <a:pt x="193077" y="198679"/>
                  <a:pt x="201284" y="199200"/>
                </a:cubicBezTo>
                <a:lnTo>
                  <a:pt x="228578" y="200959"/>
                </a:lnTo>
                <a:cubicBezTo>
                  <a:pt x="232682" y="195682"/>
                  <a:pt x="237437" y="190797"/>
                  <a:pt x="242844" y="186628"/>
                </a:cubicBezTo>
                <a:lnTo>
                  <a:pt x="241085" y="159399"/>
                </a:lnTo>
                <a:cubicBezTo>
                  <a:pt x="240564" y="151191"/>
                  <a:pt x="245906" y="143765"/>
                  <a:pt x="253788" y="141681"/>
                </a:cubicBezTo>
                <a:lnTo>
                  <a:pt x="270855" y="137121"/>
                </a:lnTo>
                <a:close/>
                <a:moveTo>
                  <a:pt x="292090" y="221478"/>
                </a:moveTo>
                <a:cubicBezTo>
                  <a:pt x="276271" y="221496"/>
                  <a:pt x="263443" y="234353"/>
                  <a:pt x="263461" y="250172"/>
                </a:cubicBezTo>
                <a:cubicBezTo>
                  <a:pt x="263479" y="265991"/>
                  <a:pt x="276337" y="278820"/>
                  <a:pt x="292155" y="278802"/>
                </a:cubicBezTo>
                <a:cubicBezTo>
                  <a:pt x="307974" y="278784"/>
                  <a:pt x="320803" y="265926"/>
                  <a:pt x="320785" y="250107"/>
                </a:cubicBezTo>
                <a:cubicBezTo>
                  <a:pt x="320767" y="234288"/>
                  <a:pt x="307909" y="221460"/>
                  <a:pt x="292090" y="221478"/>
                </a:cubicBezTo>
                <a:close/>
                <a:moveTo>
                  <a:pt x="146501" y="-29639"/>
                </a:moveTo>
                <a:lnTo>
                  <a:pt x="163568" y="-25079"/>
                </a:lnTo>
                <a:cubicBezTo>
                  <a:pt x="171450" y="-22929"/>
                  <a:pt x="176792" y="-15503"/>
                  <a:pt x="176270" y="-7361"/>
                </a:cubicBezTo>
                <a:lnTo>
                  <a:pt x="174512" y="19868"/>
                </a:lnTo>
                <a:cubicBezTo>
                  <a:pt x="179918" y="24037"/>
                  <a:pt x="184674" y="28857"/>
                  <a:pt x="188777" y="34199"/>
                </a:cubicBezTo>
                <a:lnTo>
                  <a:pt x="216136" y="32440"/>
                </a:lnTo>
                <a:cubicBezTo>
                  <a:pt x="224279" y="31919"/>
                  <a:pt x="231705" y="37260"/>
                  <a:pt x="233855" y="45142"/>
                </a:cubicBezTo>
                <a:lnTo>
                  <a:pt x="238415" y="62209"/>
                </a:lnTo>
                <a:cubicBezTo>
                  <a:pt x="240499" y="70091"/>
                  <a:pt x="236786" y="78429"/>
                  <a:pt x="229425" y="82077"/>
                </a:cubicBezTo>
                <a:lnTo>
                  <a:pt x="204867" y="94193"/>
                </a:lnTo>
                <a:cubicBezTo>
                  <a:pt x="204411" y="97515"/>
                  <a:pt x="203760" y="100838"/>
                  <a:pt x="202913" y="104095"/>
                </a:cubicBezTo>
                <a:cubicBezTo>
                  <a:pt x="202066" y="107352"/>
                  <a:pt x="200894" y="110609"/>
                  <a:pt x="199656" y="113670"/>
                </a:cubicBezTo>
                <a:lnTo>
                  <a:pt x="214834" y="136470"/>
                </a:lnTo>
                <a:cubicBezTo>
                  <a:pt x="219393" y="143309"/>
                  <a:pt x="218481" y="152364"/>
                  <a:pt x="212684" y="158161"/>
                </a:cubicBezTo>
                <a:lnTo>
                  <a:pt x="200177" y="170668"/>
                </a:lnTo>
                <a:cubicBezTo>
                  <a:pt x="194379" y="176466"/>
                  <a:pt x="185325" y="177378"/>
                  <a:pt x="178485" y="172818"/>
                </a:cubicBezTo>
                <a:lnTo>
                  <a:pt x="155686" y="157640"/>
                </a:lnTo>
                <a:cubicBezTo>
                  <a:pt x="149498" y="160181"/>
                  <a:pt x="142918" y="162005"/>
                  <a:pt x="136209" y="162917"/>
                </a:cubicBezTo>
                <a:lnTo>
                  <a:pt x="124093" y="187409"/>
                </a:lnTo>
                <a:cubicBezTo>
                  <a:pt x="120445" y="194770"/>
                  <a:pt x="112107" y="198483"/>
                  <a:pt x="104225" y="196399"/>
                </a:cubicBezTo>
                <a:lnTo>
                  <a:pt x="87158" y="191839"/>
                </a:lnTo>
                <a:cubicBezTo>
                  <a:pt x="79211" y="189689"/>
                  <a:pt x="73935" y="182263"/>
                  <a:pt x="74456" y="174121"/>
                </a:cubicBezTo>
                <a:lnTo>
                  <a:pt x="76214" y="146827"/>
                </a:lnTo>
                <a:cubicBezTo>
                  <a:pt x="70808" y="142658"/>
                  <a:pt x="66053" y="137837"/>
                  <a:pt x="61949" y="132496"/>
                </a:cubicBezTo>
                <a:lnTo>
                  <a:pt x="34590" y="134255"/>
                </a:lnTo>
                <a:cubicBezTo>
                  <a:pt x="26447" y="134776"/>
                  <a:pt x="19021" y="129434"/>
                  <a:pt x="16871" y="121552"/>
                </a:cubicBezTo>
                <a:lnTo>
                  <a:pt x="12312" y="104485"/>
                </a:lnTo>
                <a:cubicBezTo>
                  <a:pt x="10227" y="96603"/>
                  <a:pt x="13940" y="88265"/>
                  <a:pt x="21301" y="84618"/>
                </a:cubicBezTo>
                <a:lnTo>
                  <a:pt x="45859" y="72501"/>
                </a:lnTo>
                <a:cubicBezTo>
                  <a:pt x="46315" y="69179"/>
                  <a:pt x="46966" y="65922"/>
                  <a:pt x="47813" y="62600"/>
                </a:cubicBezTo>
                <a:cubicBezTo>
                  <a:pt x="48725" y="59278"/>
                  <a:pt x="49767" y="56086"/>
                  <a:pt x="51070" y="53024"/>
                </a:cubicBezTo>
                <a:lnTo>
                  <a:pt x="35892" y="30290"/>
                </a:lnTo>
                <a:cubicBezTo>
                  <a:pt x="31333" y="23451"/>
                  <a:pt x="32245" y="14396"/>
                  <a:pt x="38042" y="8599"/>
                </a:cubicBezTo>
                <a:lnTo>
                  <a:pt x="50549" y="-3908"/>
                </a:lnTo>
                <a:cubicBezTo>
                  <a:pt x="56347" y="-9706"/>
                  <a:pt x="65401" y="-10618"/>
                  <a:pt x="72241" y="-6058"/>
                </a:cubicBezTo>
                <a:lnTo>
                  <a:pt x="95040" y="9120"/>
                </a:lnTo>
                <a:cubicBezTo>
                  <a:pt x="101228" y="6579"/>
                  <a:pt x="107808" y="4755"/>
                  <a:pt x="114517" y="3843"/>
                </a:cubicBezTo>
                <a:lnTo>
                  <a:pt x="126633" y="-20650"/>
                </a:lnTo>
                <a:cubicBezTo>
                  <a:pt x="130281" y="-28010"/>
                  <a:pt x="138554" y="-31723"/>
                  <a:pt x="146501" y="-29639"/>
                </a:cubicBezTo>
                <a:close/>
                <a:moveTo>
                  <a:pt x="125330" y="54718"/>
                </a:moveTo>
                <a:cubicBezTo>
                  <a:pt x="109512" y="54718"/>
                  <a:pt x="96669" y="67561"/>
                  <a:pt x="96669" y="83380"/>
                </a:cubicBezTo>
                <a:cubicBezTo>
                  <a:pt x="96669" y="99199"/>
                  <a:pt x="109512" y="112042"/>
                  <a:pt x="125330" y="112042"/>
                </a:cubicBezTo>
                <a:cubicBezTo>
                  <a:pt x="141149" y="112042"/>
                  <a:pt x="153992" y="99199"/>
                  <a:pt x="153992" y="83380"/>
                </a:cubicBezTo>
                <a:cubicBezTo>
                  <a:pt x="153992" y="67561"/>
                  <a:pt x="141149" y="54718"/>
                  <a:pt x="125330" y="54718"/>
                </a:cubicBezTo>
                <a:close/>
              </a:path>
            </a:pathLst>
          </a:custGeom>
          <a:solidFill>
            <a:srgbClr val="B89A6A"/>
          </a:solidFill>
        </p:spPr>
      </p:sp>
      <p:sp>
        <p:nvSpPr>
          <p:cNvPr id="32" name="Text 30"/>
          <p:cNvSpPr/>
          <p:nvPr/>
        </p:nvSpPr>
        <p:spPr>
          <a:xfrm>
            <a:off x="1269228" y="6005672"/>
            <a:ext cx="5123234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双引擎驱动价值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69228" y="6376249"/>
            <a:ext cx="5095441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学术导师确保理论深度与系统性 · 产业导师确保实战落地与可执行性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76177" y="6172432"/>
            <a:ext cx="1000559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学术深度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13794" y="6172432"/>
            <a:ext cx="24087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6D7B8D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390859" y="6172432"/>
            <a:ext cx="1000559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实战经验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28476" y="6172432"/>
            <a:ext cx="240875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6D7B8D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=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05541" y="6172432"/>
            <a:ext cx="1000559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完整赋能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515c7c7f36e1d7b592d9f6958e6eb42de19add75"/>
          <p:cNvPicPr>
            <a:picLocks noChangeAspect="1"/>
          </p:cNvPicPr>
          <p:nvPr/>
        </p:nvPicPr>
        <p:blipFill>
          <a:blip r:embed="rId1">
            <a:alphaModFix amt="30000"/>
          </a:blip>
          <a:srcRect l="6806" r="6806"/>
          <a:stretch>
            <a:fillRect/>
          </a:stretch>
        </p:blipFill>
        <p:spPr>
          <a:xfrm>
            <a:off x="0" y="0"/>
            <a:ext cx="12192000" cy="793591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935914"/>
          </a:xfrm>
          <a:custGeom>
            <a:avLst/>
            <a:gdLst/>
            <a:ahLst/>
            <a:cxnLst/>
            <a:rect l="l" t="t" r="r" b="b"/>
            <a:pathLst>
              <a:path w="12192000" h="7935914">
                <a:moveTo>
                  <a:pt x="0" y="0"/>
                </a:moveTo>
                <a:lnTo>
                  <a:pt x="12192000" y="0"/>
                </a:lnTo>
                <a:lnTo>
                  <a:pt x="12192000" y="7935914"/>
                </a:lnTo>
                <a:lnTo>
                  <a:pt x="0" y="79359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A78">
                  <a:alpha val="85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329291" y="702485"/>
            <a:ext cx="8726212" cy="1300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665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开启AI领导力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4665" b="1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新征程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9291" y="2335739"/>
            <a:ext cx="1317164" cy="49394"/>
          </a:xfrm>
          <a:custGeom>
            <a:avLst/>
            <a:gdLst/>
            <a:ahLst/>
            <a:cxnLst/>
            <a:rect l="l" t="t" r="r" b="b"/>
            <a:pathLst>
              <a:path w="1317164" h="49394">
                <a:moveTo>
                  <a:pt x="0" y="0"/>
                </a:moveTo>
                <a:lnTo>
                  <a:pt x="1317164" y="0"/>
                </a:lnTo>
                <a:lnTo>
                  <a:pt x="1317164" y="49394"/>
                </a:lnTo>
                <a:lnTo>
                  <a:pt x="0" y="4939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6" name="Text 3"/>
          <p:cNvSpPr/>
          <p:nvPr/>
        </p:nvSpPr>
        <p:spPr>
          <a:xfrm>
            <a:off x="329291" y="2780282"/>
            <a:ext cx="8528637" cy="642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本课程通过</a:t>
            </a:r>
            <a:r>
              <a:rPr lang="en-US" sz="155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系统化的模块设计</a:t>
            </a:r>
            <a:r>
              <a:rPr lang="en-US" sz="155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，结合Global AI平台的实战经验，为企业提供从认知到落地、从战略到执行的完整AI领导力解决方案。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9291" y="3619974"/>
            <a:ext cx="8528637" cy="642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5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加入我们，成为</a:t>
            </a:r>
            <a:r>
              <a:rPr lang="en-US" sz="1555" b="1" dirty="0">
                <a:solidFill>
                  <a:srgbClr val="B89A6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AI时代的先行者</a:t>
            </a:r>
            <a:r>
              <a:rPr lang="en-US" sz="1555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，用AI领导力重塑企业未来，在智能化浪潮中把握先机、赢得竞争。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9621" y="6289273"/>
            <a:ext cx="3556343" cy="592724"/>
          </a:xfrm>
          <a:custGeom>
            <a:avLst/>
            <a:gdLst/>
            <a:ahLst/>
            <a:cxnLst/>
            <a:rect l="l" t="t" r="r" b="b"/>
            <a:pathLst>
              <a:path w="3556343" h="592724">
                <a:moveTo>
                  <a:pt x="0" y="0"/>
                </a:moveTo>
                <a:lnTo>
                  <a:pt x="3556343" y="0"/>
                </a:lnTo>
                <a:lnTo>
                  <a:pt x="3556343" y="592724"/>
                </a:lnTo>
                <a:lnTo>
                  <a:pt x="0" y="59272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</p:spPr>
      </p:sp>
      <p:sp>
        <p:nvSpPr>
          <p:cNvPr id="21" name="Text 18"/>
          <p:cNvSpPr/>
          <p:nvPr/>
        </p:nvSpPr>
        <p:spPr>
          <a:xfrm>
            <a:off x="724440" y="6402483"/>
            <a:ext cx="2864832" cy="2634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5" b="1" dirty="0">
                <a:solidFill>
                  <a:srgbClr val="1A1D2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立即报名，开启AI领导力新征程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9291" y="7206500"/>
            <a:ext cx="11533418" cy="5488"/>
          </a:xfrm>
          <a:custGeom>
            <a:avLst/>
            <a:gdLst/>
            <a:ahLst/>
            <a:cxnLst/>
            <a:rect l="l" t="t" r="r" b="b"/>
            <a:pathLst>
              <a:path w="11533418" h="5488">
                <a:moveTo>
                  <a:pt x="0" y="0"/>
                </a:moveTo>
                <a:lnTo>
                  <a:pt x="11533418" y="0"/>
                </a:lnTo>
                <a:lnTo>
                  <a:pt x="11533418" y="5488"/>
                </a:lnTo>
                <a:lnTo>
                  <a:pt x="0" y="5488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3" name="Text 20"/>
          <p:cNvSpPr/>
          <p:nvPr/>
        </p:nvSpPr>
        <p:spPr>
          <a:xfrm>
            <a:off x="329291" y="7406821"/>
            <a:ext cx="1934585" cy="197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6D7B8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浙江大学 · Global AI创新加速器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437840" y="7406821"/>
            <a:ext cx="1490042" cy="197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kern="0" spc="52" dirty="0">
                <a:solidFill>
                  <a:srgbClr val="B89A6A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 LEADERSHIP 2026</a:t>
            </a:r>
            <a:endParaRPr lang="en-US" sz="1600" dirty="0"/>
          </a:p>
        </p:txBody>
      </p:sp>
      <p:sp>
        <p:nvSpPr>
          <p:cNvPr id="25" name="Shape 3"/>
          <p:cNvSpPr/>
          <p:nvPr/>
        </p:nvSpPr>
        <p:spPr>
          <a:xfrm>
            <a:off x="329565" y="4309745"/>
            <a:ext cx="7714615" cy="1966595"/>
          </a:xfrm>
          <a:custGeom>
            <a:avLst/>
            <a:gdLst/>
            <a:ahLst/>
            <a:cxnLst/>
            <a:rect l="l" t="t" r="r" b="b"/>
            <a:pathLst>
              <a:path w="7714333" h="2247219">
                <a:moveTo>
                  <a:pt x="0" y="0"/>
                </a:moveTo>
                <a:lnTo>
                  <a:pt x="7714333" y="0"/>
                </a:lnTo>
                <a:lnTo>
                  <a:pt x="7714333" y="2247219"/>
                </a:lnTo>
                <a:lnTo>
                  <a:pt x="0" y="224721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</p:spPr>
      </p:sp>
      <p:sp>
        <p:nvSpPr>
          <p:cNvPr id="26" name="Text 6"/>
          <p:cNvSpPr/>
          <p:nvPr/>
        </p:nvSpPr>
        <p:spPr>
          <a:xfrm>
            <a:off x="431800" y="4347845"/>
            <a:ext cx="3743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8E8E8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入学要求</a:t>
            </a:r>
            <a:endParaRPr lang="en-US" sz="1600" dirty="0"/>
          </a:p>
        </p:txBody>
      </p:sp>
      <p:sp>
        <p:nvSpPr>
          <p:cNvPr id="27" name="Text 9" descr="7b0a202020202262756c6c6574223a20227b5c2263617465676f727949645c223a5c225c222c5c2274656d706c61746549645c223a32303233313634357d220a7d0a"/>
          <p:cNvSpPr/>
          <p:nvPr/>
        </p:nvSpPr>
        <p:spPr>
          <a:xfrm>
            <a:off x="431800" y="4776470"/>
            <a:ext cx="7181850" cy="1369695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企业创始人、CEO、核心管理层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具备5年以上企业管理经验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企业处于数字化转型或AI升级关键期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董事长 / CEO / 总经理 / 创始人（这样的最终决策者）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350" dirty="0">
                <a:solidFill>
                  <a:srgbClr val="E8E8E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数字化/AI负责人、核心业务一号位（这样的关键推进者）</a:t>
            </a:r>
            <a:endParaRPr lang="en-US" sz="1350" dirty="0">
              <a:solidFill>
                <a:srgbClr val="E8E8E8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commondata" val="eyJoZGlkIjoiNTNmZTE3YTI0MWIzN2IwZDdlNjg4NTQ3NmVjMjU5OGQifQ==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3517</Words>
  <Application>WPS 演示</Application>
  <PresentationFormat>On-screen Show (16:9)</PresentationFormat>
  <Paragraphs>440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Alimama ShuHeiTi</vt:lpstr>
      <vt:lpstr>Alimama ShuHeiTi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浙江大学Global AI创新家领导力高级研修班</dc:title>
  <dc:creator>Kimi</dc:creator>
  <dc:subject>浙江大学Global AI创新家领导力高级研修班</dc:subject>
  <cp:lastModifiedBy>葡萄</cp:lastModifiedBy>
  <cp:revision>8</cp:revision>
  <dcterms:created xsi:type="dcterms:W3CDTF">2026-01-18T14:17:00Z</dcterms:created>
  <dcterms:modified xsi:type="dcterms:W3CDTF">2026-01-19T01:23:00Z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{"Label":"浙江大学Global AI创新家领导力高级研修班","ContentProducer":"001191110108MACG2KBH8F10000","ProduceID":"19bd16c1-b592-84ac-8000-0000731ffd47","ReservedCode1":"","ContentPropagator":"001191110108MACG2KBH8F20000","PropagateID":"19bd16c1-b592-84ac-8000-0000731ffd47","ReservedCode2":""}</vt:lpwstr>
  </property>
  <property fmtid="{D5CDD505-2E9C-101B-9397-08002B2CF9AE}" pid="3" name="ICV">
    <vt:lpwstr>3B40577B596C42DCB24F5A138D5B83E3_12</vt:lpwstr>
  </property>
  <property fmtid="{D5CDD505-2E9C-101B-9397-08002B2CF9AE}" pid="4" name="KSOProductBuildVer">
    <vt:lpwstr>2052-12.1.0.24034</vt:lpwstr>
  </property>
</Properties>
</file>